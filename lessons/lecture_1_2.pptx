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2E86AB"/>
                </a:solidFill>
              </a:defRPr>
            </a:pPr>
            <a:r>
              <a:t>Лекция 1.2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3400" b="1" i="0">
                <a:solidFill>
                  <a:srgbClr val="FFFFFF"/>
                </a:solidFill>
              </a:defRPr>
            </a:pPr>
            <a:r>
              <a:t>AI PDLC: трансформация процессов разработки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3400" b="1" i="0">
                <a:solidFill>
                  <a:srgbClr val="FFFFFF"/>
                </a:solidFill>
              </a:defRPr>
            </a:pPr>
            <a:r>
              <a:t>при системном включении ИИ-агентов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3400" b="1" i="0">
                <a:solidFill>
                  <a:srgbClr val="FFFFFF"/>
                </a:solidFill>
              </a:defRPr>
            </a:pPr>
            <a:r>
              <a:t>в производственный цикл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91840"/>
            <a:ext cx="9966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  <a:spcAft>
                <a:spcPts val="400"/>
              </a:spcAft>
              <a:defRPr sz="1600" b="0" i="0">
                <a:solidFill>
                  <a:srgbClr val="BBCCDD"/>
                </a:solidFill>
              </a:defRPr>
            </a:pPr>
            <a:r>
              <a:t>Дисциплина: «Искусственный интеллект в разработке программного обеспечения»</a:t>
            </a:r>
          </a:p>
          <a:p>
            <a:pPr algn="l">
              <a:spcBef>
                <a:spcPts val="1800"/>
              </a:spcBef>
              <a:spcAft>
                <a:spcPts val="400"/>
              </a:spcAft>
              <a:defRPr sz="1400" b="0" i="0">
                <a:solidFill>
                  <a:srgbClr val="99AABB"/>
                </a:solidFill>
              </a:defRPr>
            </a:pPr>
            <a:r>
              <a:t>Spec-Driven Development • Трансформация ролей • Принцип явности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Центральный вопрос: судьба понятия «команда»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222222"/>
                </a:solidFill>
              </a:defRPr>
            </a:pPr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 i="0">
                <a:solidFill>
                  <a:srgbClr val="222222"/>
                </a:solidFill>
              </a:defRPr>
            </a:pPr>
            <a:r>
              <a:t>Если объём задач, ранее требовавший нескольких специалистов, теперь закрывается одним специалистом с ИИ-инструментами, —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500" b="1" i="0">
                <a:solidFill>
                  <a:srgbClr val="2E86AB"/>
                </a:solidFill>
              </a:defRPr>
            </a:pPr>
            <a:r>
              <a:t>•  Сохраняет ли смысл понятие «команда» в его классическом определении?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1" i="0">
                <a:solidFill>
                  <a:srgbClr val="2E86AB"/>
                </a:solidFill>
              </a:defRPr>
            </a:pPr>
            <a:r>
              <a:t>•  Не утрачивают ли функциональность координационные ритуалы Agile,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500" b="1" i="0">
                <a:solidFill>
                  <a:srgbClr val="2E86AB"/>
                </a:solidFill>
              </a:defRPr>
            </a:pPr>
            <a:r>
              <a:t>   изначально спроектированные для синхронизации нескольких независимых носителей знания?</a:t>
            </a:r>
          </a:p>
          <a:p>
            <a:pPr algn="l">
              <a:spcBef>
                <a:spcPts val="18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Практическое значение ответа: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Он определяет принципы распределения ролей, формат постановки задач и механизм закрепления ответственности в команде, использующей ИИ-агентов как участников производственного процесса.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Команда с агентом ≠ команда без агента. Агент — не инструмент, а новый тип участника процесса.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Историческая причина возникновения Agile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Agile-манифест (2001) — ответ на конкретную инженерную проблему: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Участники одной команды систематически формировали различные, несовместимые между собой ментальные модели одной и той же задачи.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Разработчик → интерпретация А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Аналитик → фиксация Б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Тестировщик → проверка В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Заказчик → ожидание Г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Почему Waterfall не сработал: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Требования изменялись быстрее, чем создавалась и утверждалась документация. Спецификации устаревали до завершения их разработки.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27AE60"/>
                </a:solidFill>
              </a:defRPr>
            </a:pPr>
            <a:r>
              <a:t>Решение Agile: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Не фиксировать полное знание о задаче в начале работ, а создать механизмы постоянной синхронизации участников на протяжении всего цикла разработки.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Ритуалы Agile как механизмы синхронизации ментальных моделей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Ритуал Agile — регламентированная практика взаимодействия участников команды, назначение которой: приведение индивидуальных представлений о задаче к общему знаменателю.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Стендап: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Не отчёт. Ежедневная процедура синхронизации: каждый артикулирует текущее понимание задачи → выявление расхождений интерпретаций на раннем этапе.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Ретроспектива: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Не разбор ошибок. Коллективная калибровка представлений о процессе работы команды.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Груминг бэклога и спринт-ревью: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Аналогичная функция применительно к содержанию задач и результатам их выполнения.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Общий механизм всех практик: столкновение и согласование различных интерпретаций одной задачи между людьми с разным профессиональным опытом и контекстом.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Отсутствие ментальной модели у агента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Механизм и последствия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555555"/>
                </a:solidFill>
              </a:defRPr>
            </a:pPr>
            <a:r>
              <a:t>Ментальная модель задачи — индивидуальное представление участника, сформированное на основе профессионального опыта, контекста и косвенных сигналов коммуникации.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Агент не формирует ментальной модели: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 Не обладает профессиональной интуицией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 Не удерживает подразумеваемый контекст вне явно переданных данных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 Не корректирует задание на основе предположений о намерениях постановщика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Любой пробел спецификации, который человек-разработчик восполнил бы самостоятельно, агент оставляет неразрешённым и заполняет произвольной интерпретацией.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C0392B"/>
                </a:solidFill>
              </a:defRPr>
            </a:pPr>
            <a:r>
              <a:t>Пример: задание «обработать файл» без форматов, ограничений размера и определения понятия «обработка» → формально соответствует тексту, но не фактической потребности.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Смещение функции ритуалов Agile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От людей — к спецификациям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Ранее: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Синхронизация ментальных моделей нескольких людей. Расхождения устранялись через обсуждение, уточняющие вопросы и апелляцию к общему контексту.</a:t>
            </a:r>
          </a:p>
          <a:p>
            <a:pPr algn="l">
              <a:spcBef>
                <a:spcPts val="16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Теперь (с агентом):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Добавляется новая функция: синхронизация и верификация формальных спецификаций, адресованных машине, не способной восполнить их неполноту самостоятельно.</a:t>
            </a:r>
          </a:p>
          <a:p>
            <a:pPr algn="l">
              <a:spcBef>
                <a:spcPts val="16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Практическое следствие: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Критерий достаточности постановки задачи меняется: формулировка, «достаточно хорошая» для человека-разработчика, становится недостаточной для агента. Каждый неопределённый элемент → точка непредсказуемого поведения генеративной системы.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Ритуалы не исчезают — они переориентируются с синхронизации людей на синхронизацию требований.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Формальное определение AI PDLC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2E86AB"/>
                </a:solidFill>
              </a:defRPr>
            </a:pPr>
            <a:r>
              <a:t>AI PDLC (AI Product Development Life Cycle) —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Описание жизненного цикла разработки ПО в условиях, когда ИИ выступает не только объектом разработки, но и инструментом, непосредственно участвующим в производственном процессе.</a:t>
            </a:r>
          </a:p>
          <a:p>
            <a:pPr algn="l">
              <a:spcBef>
                <a:spcPts val="1600"/>
              </a:spcBef>
              <a:spcAft>
                <a:spcPts val="400"/>
              </a:spcAft>
              <a:defRPr sz="1400" b="1" i="0">
                <a:solidFill>
                  <a:srgbClr val="222222"/>
                </a:solidFill>
              </a:defRPr>
            </a:pPr>
            <a:r>
              <a:t>Существенное уточнение: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AI PDLC не является самостоятельной методологией, конкурирующей с Agile или Scrum.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AI PDLC = надстройка — набор структурных изменений, которые классические методологии претерпевают при системном включении генеративных моделей и агентов.</a:t>
            </a:r>
          </a:p>
          <a:p>
            <a:pPr algn="l">
              <a:spcBef>
                <a:spcPts val="16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Риск игнорирования: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Применение устаревших критериев оценки процесса (объём написанного кода, скорость выполнения задач) к принципиально новой производственной модели → искажение оценки реального состояния проекта.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Первое отличие AI PDLC от SDLC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Перемещение узкого места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Классический SDLC: узкое место — написание кода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Квалифицированный специалист производит ограниченный объём кода за день → естественный темп процесса.</a:t>
            </a:r>
          </a:p>
          <a:p>
            <a:pPr algn="l">
              <a:spcBef>
                <a:spcPts val="16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AI PDLC: написание кода перестаёт быть узким местом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Агент способен сгенерировать код, сопоставимый с несколькими днями работы человека, за минуты.</a:t>
            </a:r>
          </a:p>
          <a:p>
            <a:pPr algn="l">
              <a:spcBef>
                <a:spcPts val="16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Новое узкое место: валидация и ревью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Процессы валидации и ревью, рассчитанные на меньший объём материала, не масштабируются пропорционально скорости генерации.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Последствие: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Накопление непроверенного кода с промышленной скоростью → технический долг недостижимого ранее объёма.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Необходимо сознательное проектирование процессов ревью под новую скорость генерации.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Второе отличие AI PDLC от SDLC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Усиление, а не поглощение ошибок постановки задачи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Классический SDLC: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Некачественная формулировка частично компенсируется человеком: уточняющие вопросы, контекст предыдущих итераций, здравый смысл.</a:t>
            </a:r>
          </a:p>
          <a:p>
            <a:pPr algn="l">
              <a:spcBef>
                <a:spcPts val="16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AI PDLC: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Агент исключает данную компенсацию: неполная или противоречивая формулировка транслируется в результат буквально — вместе со всеми присущими ей дефектами, без коррекции.</a:t>
            </a:r>
          </a:p>
          <a:p>
            <a:pPr algn="l">
              <a:spcBef>
                <a:spcPts val="16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Формальное следствие: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Качество итогового продукта определяется прежде всего качеством формулировки задач человеком-постановщиком, а не квалификацией «исполнителя» в лице модели.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Парадоксальный эффект: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Ускорение инструмента генерации + некачественная постановка = снижение качества конечного продукта за счёт многократно растиражированной ошибки.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Третье отличие AI PDLC от SDLC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Перераспределение ответственности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Принцип: включение автоматизированного компонента не устраняет субъекта ответственности, а закрепляет её за конкретным человеком на каждом этапе.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0" i="0">
                <a:solidFill>
                  <a:srgbClr val="C0392B"/>
                </a:solidFill>
              </a:defRPr>
            </a:pPr>
            <a:r>
              <a:t>Ответственность за ошибку сгенерированного кода «лежит на инструменте» — юридически, этически и инженерно несостоятельное представление.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3200400"/>
          <a:ext cx="10881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200400"/>
                <a:gridCol w="420624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Действие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Субъект ответственности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Содержание ответственности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Формулировка спецификации задачи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Постановщик задачи (аналитик, разработчик)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Корректность и полнота постановки задачи для агента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Проведение ревью сгенерированного кода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Проверяющий, принявший код в базу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Качество и корректность итогового результата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Выбор инструмента и настройка прав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Архитектор процесса / тех. руководитель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Последствия автономных действий инструмента в системе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3035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400"/>
              </a:spcAft>
              <a:defRPr sz="1200" b="0" i="0">
                <a:solidFill>
                  <a:srgbClr val="C0392B"/>
                </a:solidFill>
              </a:defRPr>
            </a:pPr>
            <a:r>
              <a:t>Отсутствие фиксации данного распределения → диффузия ответственности: ни один участник не может быть однозначно назван причиной допущенной ошибки.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Трансформация роли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Разработчик → Инженер-оркестратор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Инженер-оркестратор — специалист, сохраняющий полную ответственность за качество кода, но перераспределяющий рабочее время: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1.  Формулировка спецификаций для интеллектуальных агентов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2.  Ревью и валидация сгенерированных артефактов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3.  Отладка пайплайна генерации при систематическом расхождении результата с ожиданиями</a:t>
            </a:r>
          </a:p>
          <a:p>
            <a:pPr algn="l">
              <a:spcBef>
                <a:spcPts val="16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Механизм трансформации — усложнение роли, а не упрощение: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 Уметь реализовать решение самостоятельно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 Точно формализовать требования к решению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 Критически, без априорного доверия, оценить результат от автоматизированной системы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200" b="0" i="0">
                <a:solidFill>
                  <a:srgbClr val="C0392B"/>
                </a:solidFill>
              </a:defRPr>
            </a:pPr>
            <a:r>
              <a:t>Специалист, продолжающий работать исключительно как «писатель кода» → неэффективное использование инструмента и накопление непроверенных артефактов.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Трансформация роли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Аналитик / Продакт → Архитектор спецификаций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Архитектор спецификаций — специалист, формулирующий требования на уровне формализации, достаточном для непосредственного исполнения агентом.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Классический цикл: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Аналитик → пользовательские истории (приближение) → разработчик «допереводит» до технической реализации.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AI PDLC: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Промежуточная компенсация исчезает. Аналитик — первое звено, чья формулировка должна быть корректно исполнена машиной без дополнительной интерпретации.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Последствие отсутствия трансформации: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Роль аналитика либо деградирует до формальной функции, либо требует освоения нового языка формальной спецификации, без которого качественная передача задачи агенту невозможна.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Трансформация роли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QA-инженер → Инженер верификации систем 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Инженер верификации систем ИИ — функция смещена от написания тестов к двум задачам: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1.  Проверка адекватности самих тестов поставленной задаче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2.  Верификация поведения ИИ-компонентов в граничных и нестандартных случаях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Изменение объекта контроля: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«Работает ли функция?» → «Адекватны ли результаты модели в условиях, отличающихся от типовых?»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Практическое проявление риска: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Автоматически сгенерированный тест может формально проходить проверку, но не гарантировать корректность результата модели при обработке нетипичного или пограничного случая.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→ Ложное ощущение покрытия тестами при отсутствии контроля качества на функциональном уровне.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Трансформация роли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DevOps-инженер → MLOps/LLMOps-инженер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MLOps/LLMOps-инженер — расширение зоны ответственности до управления полным жизненным циклом моделей: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 Версионирование моделей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 Мониторинг смещения поведения (drift)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 Управление стоимостью инференса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 Интеграция ИИ-компонентов в CI/CD без потери воспроизводимости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Ключевое отличие от классического DevOps: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Поведение модели может изменяться со временем БЕЗ изменения кодовой базы: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555555"/>
                </a:solidFill>
              </a:defRPr>
            </a:pPr>
            <a:r>
              <a:t>   — обновление версии модели</a:t>
            </a:r>
          </a:p>
          <a:p>
            <a:pPr algn="l">
              <a:spcBef>
                <a:spcPts val="100"/>
              </a:spcBef>
              <a:spcAft>
                <a:spcPts val="400"/>
              </a:spcAft>
              <a:defRPr sz="1200" b="0" i="0">
                <a:solidFill>
                  <a:srgbClr val="555555"/>
                </a:solidFill>
              </a:defRPr>
            </a:pPr>
            <a:r>
              <a:t>   — изменение промпта</a:t>
            </a:r>
          </a:p>
          <a:p>
            <a:pPr algn="l">
              <a:spcBef>
                <a:spcPts val="100"/>
              </a:spcBef>
              <a:spcAft>
                <a:spcPts val="400"/>
              </a:spcAft>
              <a:defRPr sz="1200" b="0" i="0">
                <a:solidFill>
                  <a:srgbClr val="555555"/>
                </a:solidFill>
              </a:defRPr>
            </a:pPr>
            <a:r>
              <a:t>   — дрейф распределения входных данных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300" b="0" i="0">
                <a:solidFill>
                  <a:srgbClr val="C0392B"/>
                </a:solidFill>
              </a:defRPr>
            </a:pPr>
            <a:r>
              <a:t>Без контроля → команда не способна установить причину изменения поведения системы, произошедшего без видимых изменений в репозитории.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Трансформация роли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Менеджер проекта → Архитектор AI-процесса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Архитектор AI-процесса — компетенция расширена планированием вычислительных ресурсов наряду с человеческими: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 Стоимость токенов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 Время выполнения агентных задач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 Лимиты обращения к внешним API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Механизм трансформации: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Планирование итерации более не сводится к оценке трудозатрат в человеко-часах — оно включает оценку машинных затрат как самостоятельной статьи бюджета.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Практическое проявление: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Превышение бюджета может быть обусловлено не недостатком человеческих ресурсов, а: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 Неконтролируемым объёмом обращений к дорогостоящему API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 Неэффективным использованием контекстного окна модели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Отсутствие данной компетенции → разрыв между планируемыми и фактическими затратами проекта с ИИ.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Сводная таблица трансформации ролей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371600"/>
          <a:ext cx="11430000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200400"/>
                <a:gridCol w="5669280"/>
              </a:tblGrid>
              <a:tr h="64007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Классическая роль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Трансформированная роль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Ключевое смещение фокуса деятельности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Разработчик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Инженер-оркестратор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От написания кода — к формулировке спецификаций и ревью артефактов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Аналитик / продакт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Архитектор спецификаций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От приближённых требований — к формально исполнимым спецификациям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QA-инженер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Инженер верификации систем ИИ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От написания тестов — к проверке адекватности тестов и поведения модели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DevOps-инженер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MLOps/LLMOps-инженер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От управления кодовым конвейером — к управлению жизненным циклом моделей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Менеджер проекта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Архитектор AI-процесса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От планирования человеко-часов — к планированию машинных и вычислительных затрат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Общая закономерность: смещение от производства артефакта к формализации требований и критической проверке результата автоматизированной системы.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Трансформация ритуалов Agile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Стендап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Формально стендап сохраняется как ежедневная процедура синхронизации.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Новый класс вопросов (отсутствовал в классическом Scrum):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 «Агент выполнил действие — проведено ли по нему ревью?»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 «Автоматизированный пайплайн сгенерировал набор тестов — верифицированы ли они?»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Расширение содержания: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Отчёт о работе, выполненной людьми + отчёт о работе, выполненной автоматизированными компонентами, с обязательной фиксацией статуса её проверки.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Риск отсутствия расширения: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Команда обладает актуальной информацией о человеческой части работы, но утрачивает контроль над объёмом и качеством автоматически сгенерированных артефактов, накапливающихся вне поля зрения.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Трансформация ритуалов Agile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Груминг бэклога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Формально груминг сохраняется как процедура уточнения и приоритизации задач.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Механизм трансформации: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Существенное повышение стоимости формулировки каждой задачи: требуемый уровень точности и структурированности возрастает по сравнению с классическим контекстом.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Причинно-следственная связь: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Некачественно сформулированная задача для человека → риск недопонимания.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C0392B"/>
                </a:solidFill>
              </a:defRPr>
            </a:pPr>
            <a:r>
              <a:t>Некачественно сформулированная задача для агента → ГАРАНТИРОВАННО некорректный результат, поскольку механизм компенсации пробела отсутствует.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Последствие: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Систематическое получение результатов, требующих множественных циклов переработки из-за недостаточной тщательности груминга.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Трансформация ритуалов Agile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Спринт-ревью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Формально спринт-ревью сохраняется как демонстрация и оценка результатов итерации.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Новый обязательный компонент: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Оценка ресурсных затрат итерации: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 Затраченное время выполнения агентных задач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 Объём использованных токенов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 Совокупная стоимость обращений к внешним API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Аналогия с оценкой технического долга в классическом ревью, но: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Технический долг теперь выражается не только в качественных показателях, но и в непосредственных финансовых затратах на использование внешних сервисов.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300" b="0" i="0">
                <a:solidFill>
                  <a:srgbClr val="C0392B"/>
                </a:solidFill>
              </a:defRPr>
            </a:pPr>
            <a:r>
              <a:t>Риск отсутствия: команда фиксирует функциональный результат, не располагая информацией о фактической стоимости его достижения.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Трансформация ритуалов Agile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Ретроспектива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Формально ретроспектива сохраняется как коллективный анализ процесса.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Второе измерение обсуждения: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К традиционному вопросу «Как мы работали как команда людей?» добавляется вопрос: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«Как функционировал используемый командой ИИ-инструментарий?»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Анализируемые аспекты: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 Где применение агентов принесло экономию усилий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 Где оно создало дополнительную нагрузку по устранению последствий некорректной генерации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 Какие изменения конфигурации инструментов необходимы для следующей итерации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300" b="0" i="0">
                <a:solidFill>
                  <a:srgbClr val="C0392B"/>
                </a:solidFill>
              </a:defRPr>
            </a:pPr>
            <a:r>
              <a:t>Риск отсутствия: систематические проблемы взаимодействия с инструментами остаются невыявленными и повторяются от итерации к итерации.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Формальное определение Spec-Driven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2E86AB"/>
                </a:solidFill>
              </a:defRPr>
            </a:pPr>
            <a:r>
              <a:t>Spec-Driven Development (SDD) — подход, при котором процесс начинается не с написания кода, а с создания формального документа спецификации.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Спецификация в обязательном порядке определяет три компонента: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1.  Функциональное назначение разрабатываемого модуля или системы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2.  Полный перечень граничных условий с описанием ожидаемого поведения в каждом из них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3.  Явные критерии, по которым будет проверяться корректность полученного результата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Ключевое методологическое отличие от вспомогательной документации: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Спецификация — первоклассный, обязательный артефакт производственного процесса, ПРЕДШЕСТВУЮЩИЙ и определяющий содержание последующей генерации кода, а не факультативное сопровождение уже выполненной работы.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Принципиальное отличие SDD от классических требований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Разный адресат — разный уровень эксплицитности: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Классическое требование: адресат — человек-разработчик (восполняет неполноту опытом).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SDD-спецификация: адресат — автоматизированная система (не восполняет неполноту).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Формальный механизм различия: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Классическое требование фиксирует НАМЕРЕНИЕ и общее направление, оставляя способ достижения и граничные случаи на усмотрение исполнителя.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SDD-спецификация фиксирует ИСЧЕРПЫВАЮЩИЙ перечень предусловий, постусловий и исключительных ситуаций, не оставляя пространства для самостоятельной интерпретации.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Эффект отсутствия детализации: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Буквальное, но не соответствующее намерению исполнение задачи агентом.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Сопоставительный кейс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User story и SDD-спецификация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27AE60"/>
                </a:solidFill>
              </a:defRPr>
            </a:pPr>
            <a:r>
              <a:t>User Story (для человека)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✔  «Как пользователь, я хочу загрузить файл, чтобы система его обработала.»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✔  Разработчик сам инициирует уточняющий диалог: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✔  — Какие форматы?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✔  — Максимальный размер?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✔  — Что значит «обработка»?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✔  — Куда сохраняется результат?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✔  Ответы — через устное согласование,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✔  контекст проекта или здравый смысл.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✔  Агенту ни один из этих механизмов недоступен.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C0392B"/>
                </a:solidFill>
              </a:defRPr>
            </a:pPr>
            <a:r>
              <a:t>SDD-спецификация (для агента)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✘  Функция: upload_file(file_path, user_id)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✘  Предусловия: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✘    • Существующий файл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✘    • Форматы: .csv, .json, .xlsx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✘    • Макс. размер: 10 МБ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✘    • Активный пользователь в системе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✘  Постусловия: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✘    • Файл сохранён с file_id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✘    • Запущена асинхронная обработка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✘    • Возвращён ProcessingResult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✘  Исключения: явно перечислены.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✘  Критерии приёмки: явно перечислены.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Разница: от «что хочет пользователь» — к «что именно должен сделать код».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Структурный разбор SDD-спецификации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Пример: функция загрузки файла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11247120" cy="4389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Функция: upload_file(file_path: str, user_id: str) -&gt; ProcessingResult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Предусловия: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- file_path указывает на существующий файл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- Поддерживаемые форматы: .csv, .json, .xlsx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- Максимальный размер: 10 МБ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- user_id соответствует активному пользователю в системе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Постусловия: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- Файл сохранён в хранилище с уникальным file_id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- Запущена асинхронная задача обработки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- Возвращён ProcessingResult: file_id, status="queued", estimated_time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Исключения: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- FileFormatError, FileSizeError, UserNotFoundError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Критерии приёмки: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- Unit-тест: валидный файл → статус "queued"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- Unit-тест: неверный формат → FileFormatError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- Unit-тест: файл &gt; 10 МБ → FileSizeError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400"/>
              </a:spcAft>
              <a:defRPr sz="1200" b="0" i="1">
                <a:solidFill>
                  <a:srgbClr val="555555"/>
                </a:solidFill>
              </a:defRPr>
            </a:pPr>
            <a:r>
              <a:t>Ключевое отличие от user story: переход с уровня намерения пользователя на уровень требуемого поведения кода.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Механизм экономической эффективности SDD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Интуитивное предположение: «спецификация — потеря времени». Практика этого не подтверждает.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Время на SDD-спецификацию компенсируется за счёт трёх механизмов: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1.  Сокращение циклов переработки: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    С полной спецификацией агент выдаёт результат с 1-2 попытки вместо 5-6 итераций угадывания намерения.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2.  Снижение стоимости ревью: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    Проверяющий опирается на явные критерии приёмки — верификация напрямую, без реконструкции намерения автора.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3.  Возможность переиспользования: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    Качественная спецификация документирует и задачу, и архитектурное решение — устраняет необходимость его восстановления путём анализа готового кода.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SDD не замедляет разработку — он переносит затраты с поздних, дорогих этапов на ранний, дешёвый.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SDD как инструмент выявления непонимания задачи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Спецификация — не бюрократия, а форма систематического мышления о содержании задачи.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Механизм: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Неспособность сформулировать полный перечень граничных условий и критериев приёмки = прямой индикатор недостаточного понимания задачи для перехода к реализации.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400" b="1" i="0">
                <a:solidFill>
                  <a:srgbClr val="27AE60"/>
                </a:solidFill>
              </a:defRPr>
            </a:pPr>
            <a:r>
              <a:t>SDD делает методологическое несоответствие видимым на этапе, ПРЕДШЕСТВУЮЩЕМ разработке.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Сравнение затрат: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C0392B"/>
                </a:solidFill>
              </a:defRPr>
            </a:pPr>
            <a:r>
              <a:t>Без SDD: непонимание → обнаружено постфактум → затрачены ресурсы на реализацию, ревью и отладку неверного решения.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7AE60"/>
                </a:solidFill>
              </a:defRPr>
            </a:pPr>
            <a:r>
              <a:t>С SDD: непонимание → обнаружено на этапе спецификации → исправлено до начала кодирования.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Отсутствие практики обязательной спецификации → систематический перенос стоимости выявления непонимания с раннего, дешёвого этапа на поздний, существенно более затратный.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Уровень модели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Управление контекстом и стоимостью в AI PDLC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API-доступ к LLM — фундаментальный технологический слой инфраструктуры AI PDLC.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Два аспекта повышенной критичности (vs диалоговый режим):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22222"/>
                </a:solidFill>
              </a:defRPr>
            </a:pPr>
            <a:r>
              <a:t>1.  Управление контекстом: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    Объём контекстной информации для задачи разработки (кодовая база, история изменений, документация) &gt;&gt; объём контекста диалога. Требуются механизмы выборочного включения релевантной информации (RAG).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22222"/>
                </a:solidFill>
              </a:defRPr>
            </a:pPr>
            <a:r>
              <a:t>2.  Управление стоимостью: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    Затраты на API модели — полноценная статья производственного бюджета. Способность прогнозирования и оптимизации этих затрат — инженерная компетенция, а не второстепенный технический параметр.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Контекст — ресурс; стоимость токенов — бюджет. И то и другое требует инженерного управления.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Уровень агентов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Сопоставление классов фреймворков оркестрации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</a:defRPr>
            </a:pPr>
            <a:r>
              <a:t>Агентный фреймворк — инструмент формирования многошаговых, инструментально оснащённых последовательностей вызовов модели.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463040"/>
          <a:ext cx="116128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383280"/>
                <a:gridCol w="2286000"/>
                <a:gridCol w="3200400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Класс фреймворка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Механизм работы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Предсказуемость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Область применения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Явные графы выполнения</a:t>
                      </a:r>
                      <a:br/>
                      <a:r>
                        <a:t>(LangGraph)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Структура пайплайна — граф состояний</a:t>
                      </a:r>
                      <a:br/>
                      <a:r>
                        <a:t>с фиксированными переходами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Высокая</a:t>
                      </a:r>
                      <a:br/>
                      <a:r>
                        <a:t>(верифицируемо заранее)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Промышленные системы;</a:t>
                      </a:r>
                      <a:br/>
                      <a:r>
                        <a:t>недопустимо непредсказуемое</a:t>
                      </a:r>
                      <a:br/>
                      <a:r>
                        <a:t>поведение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Автономное планирование</a:t>
                      </a:r>
                      <a:br/>
                      <a:r>
                        <a:t>(AutoGen, CrewAI)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Агент самостоятельно определяет</a:t>
                      </a:r>
                      <a:br/>
                      <a:r>
                        <a:t>последовательность шагов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Пониженная</a:t>
                      </a:r>
                      <a:br/>
                      <a:r>
                        <a:t>(трудно верифицируемо)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Исследовательские задачи</a:t>
                      </a:r>
                      <a:br/>
                      <a:r>
                        <a:t>с высокой неопределённостью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CLI-интерфейсы агентов</a:t>
                      </a:r>
                      <a:br/>
                      <a:r>
                        <a:t>(Claude Code, Aider, Cursor)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Готовый инструмент, интегрированный</a:t>
                      </a:r>
                      <a:br/>
                      <a:r>
                        <a:t>в рабочий процесс разработчика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Средняя</a:t>
                      </a:r>
                      <a:br/>
                      <a:r>
                        <a:t>(зависит от прав доступа)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Повседневная работа:</a:t>
                      </a:r>
                      <a:br/>
                      <a:r>
                        <a:t>анализ, правки, документация,</a:t>
                      </a:r>
                      <a:br/>
                      <a:r>
                        <a:t>тесты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Принцип минимально достаточной автономности: уровень самостоятельности агента должен соответствовать допустимому в конкретном контексте.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Уровень интеграции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Встраивание ИИ-компонентов в конвейер CI/CD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Задача: интеграция ИИ-компонентов как автоматизированной части процесса, а не ручных инструментов.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Типовые точки интеграции — четыре механизма: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1.  Pre-commit хуки: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    Автоматический анализ кода агентом непосредственно перед фиксацией изменений.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2.  Автоматическое ревью pull request: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    Агент формирует комментарии к изменениям с указанием потенциальных проблем до рассмотрения человеком.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3.  Генерация и запуск тестов в CI: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    Тесты генерируются и исполняются непосредственно в конвейере при каждом изменении.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4.  Автоматическая синхронизация документации: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    Приведение документации в соответствие с фактическим состоянием кода при каждом релизе.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300" b="0" i="0">
                <a:solidFill>
                  <a:srgbClr val="C0392B"/>
                </a:solidFill>
              </a:defRPr>
            </a:pPr>
            <a:r>
              <a:t>Без интеграции: ИИ-инструменты → разрозненные ручные операции, не обеспечивающие системного контроля качества.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Принцип версионирования промптов и конфигураций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Условие воспроизводимости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Воспроизводимость в AI PDLC — свойство, при котором для любого результата генерации можно однозначно установить определившие его факторы: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 Версию используемой модели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 Содержание промпта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 Конфигурацию агента на момент генерации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Расширенная функция VCS: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Версионированию подлежат не только данные, но и промпты, конфигурации агентов и версии используемых моделей.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Механизм необходимости: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Если результат агента изменился — команда обязана установить точную причину: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  •  Модификация кода?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  •  Изменение промпта?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  •  Обновление версии модели у провайдера?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Без версионирования промптов: результат невоспроизводим, причина расхождения неустановима.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Структура инфраструктуры проекта в парадигме AI PDLC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685800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Инфраструктура AI PDLC-проекта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├── Репозиторий проекта (git)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│   ├── /src      — исходный код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│   ├── /tests    — тесты (включая автогенерированные)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│   ├── /docs     — документация (включая автогенерируемую)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│   ├── /specs    — SDD-спецификации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│   └── /prompts  — версионированные промпты и конфигурации агентов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├── Конвейер CI/CD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│   ├── Хуки запуска тестов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│   ├── Хуки запуска линтеров и статических анализаторов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│   └── Хуки запуска ИИ-компонентов (ревью, генерация тестов)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├── Доступ к LLM API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│   ├── Управление ключами (через переменные среды)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│   └── Мониторинг потребления токенов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└── Документация процесса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  └── Техническое задание с зонами ответственности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46304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Новые элементы: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/specs — SDD-спецификации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/prompts — версионированные</a:t>
            </a:r>
            <a:br/>
            <a:r>
              <a:t>промпты и конфигурации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200" b="0" i="1">
                <a:solidFill>
                  <a:srgbClr val="555555"/>
                </a:solidFill>
              </a:defRPr>
            </a:pPr>
            <a:r>
              <a:t>Обе директории отсутствуют в классической инфраструктуре.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Директория /specs как первоклассный артефакт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Статус: /specs — первоклассный производственный артефакт, а не временный документ.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Механизм: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Спецификация версионируется совместно с кодом проекта. Изменение спецификации = изменение системы на уровне зафиксированного требования, даже если код ещё не изменён.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Практическое следствие: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История изменений спецификации фиксирует эволюцию понимания задачи командой независимо от истории изменений кода. Это даёт возможность анализа причин расхождения между первоначальным замыслом и итоговой реализацией.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Риск отсутствия версионирования: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Утрата истории принятия архитектурных решений. Невозможность восстановления обоснования конкретного варианта реализации задачи.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Директория /prompts как часть кодовой базы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Статус: /prompts — полноценная часть кодовой базы, а не личные заметки специалиста.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Механизм необходимости: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Промпт — инструкция, определяющая поведение генеративной модели. Его влияние на результат сопоставимо по значимости с исходным кодом.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Изменение промпта без фиксации в VCS → пайплайн генерации невоспроизводим: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Команда утрачивает возможность установить, какая именно версия инструкции агенту привела к получению конкретного результата.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Последствие: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Систематическое расхождение результатов работы одного агента при видимом отсутствии изменений в остальной части системы — объясняемое незафиксированной модификацией промпта.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Промпт — код. Версионируйте его как код.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Типовая ошибка №1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Отождествление скорости генерации со скоростью разработки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C0392B"/>
                </a:solidFill>
              </a:defRPr>
            </a:pPr>
            <a:r>
              <a:t>Ошибка: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Команда отождествляет скорость генерации кода агентом со скоростью разработки продукта, наращивая объём генерируемого кода без пропорционального увеличения ресурсов на проверку.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Последствия: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Спустя непродолжительный период: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 Значительная часть кода не подвергнута адекватной проверке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 Содержит дефекты интеграции и скрытые логические ошибки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•  Скорость генерации = скорость накопления технического долга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400" b="1" i="0">
                <a:solidFill>
                  <a:srgbClr val="27AE60"/>
                </a:solidFill>
              </a:defRPr>
            </a:pPr>
            <a:r>
              <a:t>Контрмера: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Явное проектирование процесса валидации как процесса, ПАРАЛЛЕЛЬНОГО генерации кода, а не как последующего этапа, отложенного на неопределённый срок.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Типовая ошибка №2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Делегирование ответственности агенту без критериев проверки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C0392B"/>
                </a:solidFill>
              </a:defRPr>
            </a:pPr>
            <a:r>
              <a:t>Ошибка: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Задача формулируется приближённо, без критериев приёмки. Агент выполняет действие; результат проходит лишь поверхностную проверку — на предположении, что система «сама разберётся».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Последствия: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Код формально функционирует (не падает), но не решает фактическую задачу либо решает её неполно. Отсутствие явных критериев → множественные варианты интерпретации → агент выбрал не тот, который соответствовал реальной потребности.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400" b="1" i="0">
                <a:solidFill>
                  <a:srgbClr val="27AE60"/>
                </a:solidFill>
              </a:defRPr>
            </a:pPr>
            <a:r>
              <a:t>Контрмера: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Обязательное определение критериев приёмки в спецификации ДО начала работы агента, а не постфактум, после получения и поверхностной оценки результата.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Типовая ошибка №3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Отложенное документирование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C0392B"/>
                </a:solidFill>
              </a:defRPr>
            </a:pPr>
            <a:r>
              <a:t>Ошибка: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Команда отказывается от текущего документирования, полагая, что документация будет впоследствии сгенерирована агентом на основе анализа готового кода.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Последствия: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 Момент для отложенного документирования систематически не наступает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 Когда документирование всё же происходит, первоначальный контекст решений утрачен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 Агент формирует документацию по наблюдаемому состоянию кода, а не по изначальному замыслу → утрата обоснования архитектурных решений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400" b="1" i="0">
                <a:solidFill>
                  <a:srgbClr val="27AE60"/>
                </a:solidFill>
              </a:defRPr>
            </a:pPr>
            <a:r>
              <a:t>Контрмера: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Документирование — непрерывный процесс, встроенный в производственный конвейер, а не финальный, факультативный этап проекта.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Проектная реализация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Техническое задание как первая SDD-спецификация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Техническое задание с зафиксированными зонами ответственности — практическое применение SDD, а не отдельная бюрократическая процедура.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Три обязательных компонента: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1.  Конкретное распределение ответственности между участниками за: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    •  Формулировку спецификаций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    •  Проведение ревью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    •  Выбор используемых инструментов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2.  Перечень компонентов системы, подлежащих реализации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3.  Явные критерии приёмки каждого из компонентов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Методологический принцип: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Спецификация — не подготовительный этап, предваряющий «настоящую работу». Составление спецификации САМО является содержательной производственной работой, определяющей качество всех последующих этапов.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Сводная таблица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Трансформация ключевых элементов процесса разработки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34440"/>
          <a:ext cx="1161288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200400"/>
                <a:gridCol w="548640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Элемент процесса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Классическая форма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Форма в AI PDLC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Узкое место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Написание кода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Валидация и ревью сгенерированного кода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Компенсация неполноты задачи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Восполняется опытом разработчика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Не восполняется — буквальная трансляция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Субъект ответственности за ошибку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Исполнитель задачи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Постановщик спецификации, проверяющий, выбравший инструмент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Артефакт постановки задачи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User story / приближённое требование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Формальная SDD-спецификация с критериями приёмки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Объект версионирования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Исходный код и данные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Код, данные, промпты, конфигурации агентов, спецификации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Функция стендапа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Синхронизация действий людей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Синхронизация людей + статуса проверки автоматизированных компонентов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Общая закономерность: усиление роли формализации и явного контроля взамен компенсаторных механизмов неформального человеческого опыта.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Итоговое обобщение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Принцип явности как основа AI PDLC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Совокупность рассмотренных изменений сводится к единому методологическому принципу:</a:t>
            </a:r>
          </a:p>
          <a:p>
            <a:pPr algn="l">
              <a:spcBef>
                <a:spcPts val="1600"/>
              </a:spcBef>
              <a:spcAft>
                <a:spcPts val="400"/>
              </a:spcAft>
              <a:defRPr sz="1800" b="1" i="0">
                <a:solidFill>
                  <a:srgbClr val="1B2A4A"/>
                </a:solidFill>
              </a:defRPr>
            </a:pPr>
            <a:r>
              <a:t>ЯВНОСТЬ формулировки требования ВАЖНЕЕ СКОРОСТИ его формулировки.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 i="0">
                <a:solidFill>
                  <a:srgbClr val="1B2A4A"/>
                </a:solidFill>
              </a:defRPr>
            </a:pPr>
            <a:r>
              <a:t>Формальная спецификация — более ценный ранний артефакт,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800" b="1" i="0">
                <a:solidFill>
                  <a:srgbClr val="1B2A4A"/>
                </a:solidFill>
              </a:defRPr>
            </a:pPr>
            <a:r>
              <a:t>чем неформализованный запрос к генеративной модели.</a:t>
            </a:r>
          </a:p>
          <a:p>
            <a:pPr algn="l">
              <a:spcBef>
                <a:spcPts val="1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Данный принцип не отменяет Agile, а уточняет его применение в условиях, когда часть участников производственного процесса — автоматизированные системы, лишённые способности к самостоятельной компенсации неполноты постановки задачи.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Отсутствие принятия данного принципа при внешней видимости методологической современности → воспроизведение всех трёх типовых ошибок.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