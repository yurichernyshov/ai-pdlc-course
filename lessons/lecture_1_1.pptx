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86AB"/>
                </a:solidFill>
              </a:defRPr>
            </a:pPr>
            <a:r>
              <a:t>Лекция 1.1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</a:defRPr>
            </a:pPr>
            <a:r>
              <a:t>Разработка программного обеспечения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</a:defRPr>
            </a:pPr>
            <a:r>
              <a:t>с применением технологий искусственного интеллекта: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</a:defRPr>
            </a:pPr>
            <a:r>
              <a:t>постановка проблемы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CCDD"/>
                </a:solidFill>
              </a:defRPr>
            </a:pPr>
            <a:r>
              <a:t>Дисциплина: «Искусственный интеллект в разработке программного обеспечения»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400" b="0" i="0">
                <a:solidFill>
                  <a:srgbClr val="99AABB"/>
                </a:solidFill>
              </a:defRPr>
            </a:pPr>
            <a:r>
              <a:t>Три инструментальные парадигмы • Инженерные гарантии • Принцип минимальной достаточности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Центральный аналитический вопрос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222222"/>
                </a:solidFill>
              </a:defRPr>
            </a:pPr>
            <a:r>
              <a:t>Если технологии ИИ способны генерировать код, формировать тестовые сценарии, составлять документацию и анализировать требования, —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800" b="1" i="0">
                <a:solidFill>
                  <a:srgbClr val="2E86AB"/>
                </a:solidFill>
              </a:defRPr>
            </a:pPr>
            <a:r>
              <a:t>какие функции инженера ПО сохраняют статус незаменимо человеческих,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1" i="0">
                <a:solidFill>
                  <a:srgbClr val="2E86AB"/>
                </a:solidFill>
              </a:defRPr>
            </a:pPr>
            <a:r>
              <a:t>а какие представляли собой иллюзию незаменимости,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1" i="0">
                <a:solidFill>
                  <a:srgbClr val="2E86AB"/>
                </a:solidFill>
              </a:defRPr>
            </a:pPr>
            <a:r>
              <a:t>не выдерживающую проверки практикой?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200" b="0" i="0">
                <a:solidFill>
                  <a:srgbClr val="555555"/>
                </a:solidFill>
              </a:defRPr>
            </a:pPr>
            <a:r>
              <a:t>Данный вопрос — не риторический приём, а рабочий аналитический инструмент, последовательно применяемый к каждой задаче SDLC.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555555"/>
                </a:solidFill>
              </a:defRPr>
            </a:pPr>
            <a:r>
              <a:t>Его функция: формирование критерия разграничения задач, подлежащих полной или частичной автоматизации, от задач, требующих сохранения контроля инженера.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Ответ на этот вопрос — сквозная методологическая рамка всей лекции.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Типовое искажение восприятия №1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Скепсис без анализа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Тезис: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500" b="0" i="0">
                <a:solidFill>
                  <a:srgbClr val="222222"/>
                </a:solidFill>
              </a:defRPr>
            </a:pPr>
            <a:r>
              <a:t>"Применение ИИ в разработке ПО — временное явление, не способное заменить инженера."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Частичная корректность: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Полное замещение инженерной функции действительно не подтверждается практикой.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Механизм искажения: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За декларируемым скепсисом скрывается отказ от содержательного анализа границы применимости технологии к конкретным задачам.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Систематическая недооценка реальных зон эффективного применения ИИ: документирование, генерация типовых тестов, извлечение структуры из неформализованного текста. → Отставание в производительности относительно команд, проводящих трезвую классификацию задач.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Типовое искажение восприятия №2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Смешение демонстрации с инженерным инструментом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Тезис: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500" b="0" i="0">
                <a:solidFill>
                  <a:srgbClr val="222222"/>
                </a:solidFill>
              </a:defRPr>
            </a:pPr>
            <a:r>
              <a:t>"Модель ИИ превосходит инженера в задачах программирования → роль инженера теряет значимость."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Механизм ошибки — подмена понятий: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Убедительная демонстрация решения в контролируемых условиях принимается за надёжный инженерный инструмент.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Ключевое различие: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222222"/>
                </a:solidFill>
              </a:defRPr>
            </a:pPr>
            <a:r>
              <a:t>Демонстрационное решение: 8/10 — работает корректно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400" b="0" i="0">
                <a:solidFill>
                  <a:srgbClr val="222222"/>
                </a:solidFill>
              </a:defRPr>
            </a:pPr>
            <a:r>
              <a:t>Промышленная эксплуатация: 9999/10 000 — приемлемый порог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Разница между этими показателями — разница весовых категорий, а не количественное отличие в пределах одной шкалы качества.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Последствие: преждевременное делегирование критичных задач инструментам, не прошедшим полноценную инженерную верификацию.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Типовое искажение восприятия №3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Отождествление генерации артефакта с выполнением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Наиболее опасное искажение ввиду своей неочевидности.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Тезис: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500" b="0" i="0">
                <a:solidFill>
                  <a:srgbClr val="222222"/>
                </a:solidFill>
              </a:defRPr>
            </a:pPr>
            <a:r>
              <a:t>Получение синтаксически корректного и работающего результата от ИИ интерпретируется как завершение инженерной задачи.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Фактически: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Сгенерированный артефакт (код, тест, документация) — черновик, требующий верификации. Ответственность за корректность и последствия сохраняется за лицом, утвердившим артефакт к использованию.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 отсутствия контроля: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Накопление в кодовой базе артефактов, прошедших генерацию, но не прошедших содержательную проверку соответствия бизнес-логике → скрытый технический долг, проявляющийся на последующих этапах эксплуатации.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Жизненный цикл разработки ПО и точки приложения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Применение ИИ не ограничивается одним этапом — оно распределено по всем этапам одновременно.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4805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Этап SDLC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Задача этапа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Направление применения ИИ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Анализ требований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Формализация, выявление противоречий, приоритизация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Автоматизация анализа требований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Проектирование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Выбор архитектуры, декомпозиция системы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Рекомендательные системы, поиск архитектурных аналогов (частичное)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Реализация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Написание программного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Реализация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Улучшение существующего кода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Анализ и рефакторинг кода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Тестирование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Разработка и выполнение тестов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тестов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Сопровождение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Ведение технической документации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Документирование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Эксплуатация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CI/CD, мониторинг, релиз-менеджмент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DevOps-автоматизация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Горизонтальность применения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Отличительная характеристика текущего этапа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Горизонтальность: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Одновременное проникновение технологии в несколько несмежных этапов SDLC — в отличие от точечной автоматизации одной узкой ниши.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Предыдущие волны автоматизации: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Низкокодовые платформы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IDE с автодополнением кода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555555"/>
                </a:solidFill>
              </a:defRPr>
            </a:pPr>
            <a:r>
              <a:t>→ Как правило, решали задачу в границах одного этапа (преимущественно реализации).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 горизонтального проникновения: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Универсальность работы с текстом и кодом как частным случаем текста (LLM). Одна технологическая база применима к формализации требований, написанию кода, генерации тестов и документированию без переобучения.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 игнорирования горизонтальности: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Фрагментарное внедрение ИИ в отдельные процессы без пересмотра архитектуры всего цикла → системный эффект автоматизации не реализуется.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Методологическая ловушка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Терминологическая маскировка различных технологий словом «ИИ»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Формулировка «ИИ применяется на этапе тестирования» скрывает неоднородность: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1B2A4A"/>
                </a:solidFill>
              </a:defRPr>
            </a:pPr>
            <a:r>
              <a:t>Вариант 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Классификатор дефектов кода → обучен на исторических данных об ошибках → выдаёт вероятностную оценку риска для модуля.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1B2A4A"/>
                </a:solidFill>
              </a:defRPr>
            </a:pPr>
            <a:r>
              <a:t>Вариант Б: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Большая языковая модель → генерирует текст unit-теста по сигнатуре функции → без обращения к историческим данным о дефектах.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Следствие неразличения: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Ошибка выбора инструмента: попытка применить LLM там, где требуется предсказуемая узкоспециализированная модель, и наоборот. Разграничение этих технологий — основное содержание последующей типологии.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Три инструментальные парадигмы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Постановка типологии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Три подхода — не эволюционная шкала «более умных» версий одного инструмента!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Корректная интерпретация: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Перед инженером — три различные инженерные парадигмы, каждая со своей: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Областью адекватности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Стоимостью применения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Профилем риска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Различие определяется типом инженерных гарантий: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Узкая предсказуемость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Широкая применимость за счёт снижения предсказуемости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Автономность за счёт дальнейшего снижения контроля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Выбор парадигмы требует анализа именно этого параметра, а не субъективной оценки «продвинутости».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Классические модели машинного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механизм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Определение: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Алгоритм, обученный решать узкую, формально определённую задачу на конкретном наборе данных посредством статистического отображения входных признаков в выходное значение: классификация, регрессия, кластеризация, ранжирование.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 работы: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Модель не «понимает» задачу в человеческом смысле — она выявляет статистическую закономерность в обучающей выборке и экстраполирует её на новые данные со сходным распределением признаков.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Ключевое инженерное следствие: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Качество работы модели напрямую зависит от степени сходства новых данных с обучающей выборкой. При выходе за пределы обучающего распределения предсказательная способность резко снижается — без внешнего сигнала об этом снижении.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Классические модели машинного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Примеры применения в разработке 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8813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44805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Задача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Тип модели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Входные данные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Классификация дефектов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Классификация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Метрики сложности модуля (цикломатическая сложность, глубина вложенности)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Оценка трудоёмкости задачи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Регрессия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Исторические данные о длительности спринтов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Поиск дублирующегося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Кластеризация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Векторные представления семантической близости фрагментов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Приоритизация тест-кейсов для регрессионного прогона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Ранжирование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Данные о частоте отказов и критичности модулей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Необходимое условие применимости: наличие исторических размеченных данных и стабильность статистической зависимости во времени.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Классические модели машинного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Сильные стороны и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Сильные стороны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Высокая предсказуемость на данных, близких к обучающим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Низкая стоимость инференса (vs генеративные модели)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Интерпретируемость решения (деревья решений и др.)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Стабильность поведения при отсутствии дрейфа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Ограничения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Узкая специализация — классификатор дефектов Python-кода неприменим к анализу требований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Необходимость размеченного датасета достаточного объёма и качества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Риск деградации точности при изменении характера входных данных без явного сигнала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Большие языковые модели (LLM)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механизм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Определение: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Генеративная модель общего назначения, обрабатывающая естественноязыковой и программный текст без предварительного переобучения под конкретную узкую задачу.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Способ взаимодействия — промпт: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Текстовая инструкция, формулирующая задачу и контекст (а не изменение весов модели).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 генерации: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Вероятностный: модель формирует выходной текст на основе распределения вероятностей следующего токена → возможность получения различающихся результатов при повторных запусках с идентичным промптом.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Принципиальное отличие от классической ML: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Классическая ML: детерминированное (или с фиксированной вероятностной моделью) отображение входа в выход. LLM: вероятностная природа каждой отдельной генерации.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Большие языковые модели (LLM)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Примеры применения в разработке 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8813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76656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Задача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 применения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По текстовому описанию функциональности либо сигнатуре функции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тестов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По исходной реализации функции/модуля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Рефакторинг фрагмента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С требованием сохранения исходного поведения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Составление технической документации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По исходному коду как формализованному входу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Структурирование требований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Из неформального описания заказчика/транскрипта совещания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Общий признак: работа с текстовым представлением артефакта. Код — частный случай текста, поддающийся генерации и трансформации теми же механизмами, что и естественный язык.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Большие языковые модели (LLM)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Сильные стороны и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Сильные стороны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Универсальность — единая модель для разнородных текстовых и кодовых задач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Низкий порог входа — не требуется сбор и разметка специализированного датасета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Способность работать с неструктурированным естественноязыковым контекстом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Ограничения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Вероятностная природа — идентичный промпт → разные результаты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Отсутствие формальной гарантии корректности результата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Высокая чувствительность к формулировке и структуре промпта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Рост стоимости инференса пропорционально объёму контекста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ИИ-агенты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обязательные структурные компоненты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Определение: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Программная надстройка над одной или несколькими моделями (как правило, LLM), обладающая тремя обязательными компонентами: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 Цель — формализованное конечное состояние, к которому агент стремится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 Инструменты (tools/skills) — доступ к файловой системе, VCS, компилятору, внешним API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3.  Политика принятия решений — выбор следующего действия и условие остановки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Ключевое отличие от прямого обращения к LLM: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Агент самостоятельно анализирует состояние среды (читает файл) → интерпретирует результат → вызывает внешний инструмент (линтер, компилятор, VCS) → на основании результата принимает решение о следующем шаге — вплоть до завершения задачи.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Агент выполняет цепочку последовательных действий без пошагового руководства человеком.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ИИ-агенты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Примеры применения и иллюстративный кейс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48463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 применения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 многошаговости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Агент, анализирующий репозиторий, вносящий правки, запускающий тесты</a:t>
                      </a:r>
                      <a:br/>
                      <a:r>
                        <a:t>и фиксирующий изменения в VCS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Анализ → генерация → верификация → фиксация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Агент, формирующий pull request с исправлением дефекта</a:t>
                      </a:r>
                      <a:br/>
                      <a:r>
                        <a:t>по текстовому описанию issue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Интерпретация задачи → локализация дефекта → генерация исправления → оформление 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Агент мониторинга CI/CD пайплайна, реагирующий на сбой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Обнаружение сбоя → анализ логов → выбор корректирующего действия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</a:defRPr>
            </a:pPr>
            <a:r>
              <a:t>Иллюстративный кейс: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CLI-агент получает задачу: довести покрытие тестами модуля до заданного порога. Самостоятельно определяет состав функций, генерирует тесты, запускает, при отказе корректирует тест или реализацию.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 i="0">
                <a:solidFill>
                  <a:srgbClr val="C0392B"/>
                </a:solidFill>
              </a:defRPr>
            </a:pPr>
            <a:r>
              <a:t>Ключевой предмет анализа: точки, в которых цепочка автономных решений требует вмешательства инженера (напр., модификация реализации ради прохождения теста без сохранения корректности бизнес-логики).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ИИ-агенты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Сильные стороны и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Сильные стороны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Решение многошаговых задач без пошагового руководства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Интеграция с реальной средой разработки (файловая система, VCS, терминал, 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Ограничения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Максимальная непредсказуемость — ошибка на одном шаге каскадно влияет на последующие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Расширенная поверхность атаки (доступ агента к инструментам среды)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Повышенная стоимость — десятки последовательных обращений к модели на одну задачу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Необходимость явного проектирования политики остановки, иначе: циклы или выход за границы задачи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Сопоставление трёх парадигм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 типу инженерных гарантий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  <a:gridCol w="3017520"/>
                <a:gridCol w="31089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Классич. ML-модель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Большая языковая модель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ИИ-агент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Область применения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Узкая, формально определённая задача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Широкий класс текстовых и кодовых задач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Многошаговые задачи со средой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Предсказуемость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Высокая (на данных обучающего распределения)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Умеренная (вероятностная природа)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Низкая (риск каскадной ошибки)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Размеченные данные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Обязательны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Не требуются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Не требуются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Стоимость эксплуатации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Умеренная (зависит от контекста)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Высокая (множественные обращения)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Основной риск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Деградация вне обучающего распределения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Нет гарантии корректности одной генерации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Каскадная ошибка + выход за границы задачи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Каждая парадигма приобретает преимущества за счёт отказа от определённого типа гарантии, ранее свойственного менее автономному подходу.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Принцип минимально достаточного инструмента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Формулировка принципа: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222222"/>
                </a:solidFill>
              </a:defRPr>
            </a:pPr>
            <a:r>
              <a:t>Инструмент выбирается не в направлении максимальной автономности или «продвинутости», а в направлении минимальной достаточности для решения задачи с приемлемым уровнем риска.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Сопоставление требуемого уровня автономности (атомарная операция → операция в ограниченном контексте → многошаговый процесс со средой) с профилем гарантий каждой парадигмы.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Практическое проявление: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Задача классификации дефектов (есть размеченные данные) → классическая ML-модель: ниже стоимость, выше предсказуемость, чем у LLM.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 игнорирования: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Неоправданный рост стоимости эксплуатации и повышение риска за счёт применения избыточно автономного инструмента там, где задача допускает более предсказуемое и дешёвое решение.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Разбор задачи: генерация кода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Уровни зернистости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3017520"/>
                <a:gridCol w="237744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 зернистости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Содержание задачи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Адекватный инструмент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Степень доверия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Атомарная генерация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Дописать реализацию функции по сигнатуре и docstring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LLM без надстройки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Высокая (при ревью)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в контексте модуля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Добавление функциональности, затрагивающей несколько файлов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ИИ-агент (локализация зависимых файлов)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Умеренная (контроль шагов)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в контексте системы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Проектирование нового сервиса / подсистемы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Роль генератора вторична; первична — роль инженера-архитектора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Низкая без архитектурной спецификации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Чем шире контекст системы — тем больше ценность смещается от генератора к инженеру, формулирующему архитектурное решение.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Разбор задачи: анализ и рефакторинг кода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Нетривиальное распределение адекватности: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Наиболее эффективный инструмент в значительной части случаев — не LLM, 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Классический статический анализатор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Специализированная ML-модель на количественных метриках (цикломатическая сложность, глубина вложенности, коэффициент дублирования)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Большая часть задач анализа кода имеет формальную, метрическую природу, не требующую семантического понимания замысла.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Область адекватного применения LLM: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Переименование сущностей в соответствии с доменной терминологией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Выделение общего структурного паттерна из разрозненных фрагментов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Игнорирование разграничения → избыточное применение LLM там, где детерминированный анализ даёт более дешёвый и предсказуемый результат.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Разбор задачи: генерация тестов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Методологический риск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Поверхностно — методологически простая задача. Cистемный риск требует отдельного анализа.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LLM эффективно генерирует тест по сигнатуре и структуре кода — эта информация формально доступна.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НО: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400" b="0" i="0">
                <a:solidFill>
                  <a:srgbClr val="222222"/>
                </a:solidFill>
              </a:defRPr>
            </a:pPr>
            <a:r>
              <a:t>Модель не имеет доступа к исходному замыслу — тому, что функция ДОЛЖНА делать (бизнес-логика), в отличие от того, что она ФАКТИЧЕСКИ делает (текущая реализация).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Механизм риска: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Сгенерированный тест, опирающийся только на реализацию, подтверждает лишь, что код воспроизводит собственное текущее поведение — включая скрытые дефекты.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Ложное чувство защищённости: высокий процент покрытия кода тестами при сохранении необнаруженных содержательных дефектов бизнес-логики.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Разбор задачи: автоматизация анализа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Применение LLM: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Извлечение структурированных требований из неформализованного текста (переписка, транскрипт совещания, описание заказчика)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Выявление противоречий и пробелов между зафиксированными требованиями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Генеративные способности применяются к задаче извлечения и структурирования информации, а не к генерации нового содержания.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Существенная методологическая особенность: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Критическая зависимость качества результата от структуры промпта. Неполно/неточно сформулированный запрос → неполное или искажённое извлечение требований.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Ответственность за качество переносится на этап формулирования запроса, предшествующий обращению к модели.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Разбор задачи: документирование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Одна из зон наибольшей рентабельности применения LLM — систематически недооцениваемая как «второстепенная».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Фактор 1: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Исходный код — формализованный вход → надёжная генерация текстового описания.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Фактор 2: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Ошибка в документации (в отличие от ошибки в коде), как правило, не приводит к непосредственному сбою функционирования системы — хотя и способна ввести в заблуждение пользователя.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Вывод: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Соотношение «экономия времени / уровень риска» делает документирование одной из первоочередных областей для внедрения автоматизации на основе LLM при сравнительно низких требованиях к последующему контролю.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Разбор задачи: DevOps-автоматизация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Применение ИИ в DevOps: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Анализ логов системы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Предсказание сбоев CI/CD-конвейера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Автоматическая генерация конфигурационных файлов пайплайна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Отличительная особенность: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Наиболее выраженный переход от LLM к агентной парадигме. Задача многошаговая по природе; взаимодействие не только с текстом, но и с реальной инфраструктурой: системой мониторинга, оркестратором контейнеров, конвейером сборки.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 перехода: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Реакция на инцидент = последовательность: обнаружение отклонения → анализ причины → выбор и применение корректирующего действия. Это структура агента (цель + инструменты + политика решений), а не одноразовое обращение к LLM.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Обобщающая таблица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Соответствие задачи и инструмента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743200"/>
                <a:gridCol w="53949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Задача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Предпочтительный подход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Обоснование выбора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Классификация дефектов, оценка трудоёмкости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Классическая ML-модель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Узкая, повторяемая задача при наличии исторических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кода по спецификации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Требуется генеративная гибкость при умеренном объёме контекста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Многошаговый рефакторинг с зависимостями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ИИ-агент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Требуется навигация по репозиторию и последовательность действий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unit-тестов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 + обязательное ревью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структурированного текста при сохранении риска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Автономное покрытие тестами модуля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ИИ-агент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Многошаговая: анализ → генерация → запуск → исправление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Анализ требований из неформального текста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Работа с естественным языком, извлечение структуры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Документирование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текста по формализованному входу при низком риске ошибки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Мониторинг и реакция на инциденты CI/CD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ИИ-агент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Требуется взаимодействие с инфраструктурой и принятие решений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Данное сопоставление — отправная точка анализа, а не универсальное нормативное предписание. Конкретная ситуация может обосновать отклонение от схемы.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Аналитическая метафора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Инженер как дирижёр оркестра инструментов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Три парадигмы как группы инструментов оркестра: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Скрипичная группа — Классические ML-модели: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Партия, выученная единожды, исполняется с высокой предсказуемостью.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Духовая секция — Большие языковые модели: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Способна к импровизации в границах заданной темы; широкий выразительный диапазон при меньшей предсказуемости отдельной ноты.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Ударная группа — ИИ-агенты: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Задаёт ритм всего процесса за счёт взаимодействия со всеми группами и внешней средой. Сбой в данной группе ощущается всем ансамблем одновременно.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Функция дирижёра: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 виртуозное владение каждым инструментом лично, но понимание природы звучания каждой группы — чтобы не допустить ситуации, когда инструмент с узкой предсказуемой партией используется там, где требуется широкий выразительный диапазон, и наоборот.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Неснимаемая ответственность человека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Постановка цели и ответственность за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AB"/>
                </a:solidFill>
              </a:defRPr>
            </a:pPr>
            <a:r>
              <a:t>Компонент 1: Постановка цели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Ни одна из трёх парадигм не располагает механизмом самостоятельного определения, что в конкретном контексте считается «качественным кодом» или «выполненным требованием».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Это — акт человеческого суждения, опирающийся на знание бизнес-контекста, недоступное модели в полном объёме.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AB"/>
                </a:solidFill>
              </a:defRPr>
            </a:pPr>
            <a:r>
              <a:t>Компонент 2: Ответственность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Фиксация изменения в VCS осуществляется человеком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Обоснование архитектурного/технологического выбора — перед ЛПР — также человеком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222222"/>
                </a:solidFill>
              </a:defRPr>
            </a:pPr>
            <a:r>
              <a:t>  •  Модель ИИ не несёт ответственности в юридическом, профессиональном или инженерном смысле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→  Ответственность несёт лицо, применившее инструмент и утвердившее результат к использованию.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Цель и ответственность — неделегируемы ни при каком уровне развития технологий.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Неснимаемая ответственность человека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Проверка смысла и оценка риска автономности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Компонент 3: Проверка подразумеваемого смысла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Технически корректный результат может формально удовлетворять спецификации, но не решать реальную проблему.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222222"/>
                </a:solidFill>
              </a:defRPr>
            </a:pPr>
            <a:r>
              <a:t>Спецификация принципиально не может быть исчерпывающе полной.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Заполнение разрыва между явным и подразумеваемым смыслом задачи остаётся человеческой компетенцией.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Компонент 4: Оценка риска автономности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Опирается на анализ последствий возможной ошибки: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Высокая стоимость ошибки + низкая обратимость → менее автономный инструмент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Низкая стоимость ошибки + высокая обратимость → допустима большая автономность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Даже при технической возможности делегировать задачу агенту — может быть целесообразно сохранение контроля человека.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Проверка смысла и оценка риска — два дополнительных неделегируемых компонента инженерной деятельности.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Иллюстративный 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Обоснованный ответ на требование тотального внедрения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Ситуация: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Руководитель формулирует требование: «Внедрить ИИ во все возможные процессы разработки» — без дифференциации задач.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Аргументированный ответ (не отклонение, не безусловное согласие):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1.  Классификация дефектов кода → готовый статический анализатор (ML), без разработки нового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2.  Черновик технической документации → LLM + обязательное последующее ревью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3.  Процесс, где рассматривается автономный агент → обоснование вывода: уровень риска от автономности превышает потенциальную выгоду → сохранение контроля человека на промежуточных шагах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Демонстрирует практическое применение принципа минимально достаточного инструмента в условиях организационного давления в пользу максимальной автоматизации.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Иллюстративный 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Демонстрация против надёжного инструмента (CLI-агент)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Кейс: CLI-агент автоматизирует часть процесса разработки: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Анализ репозитория → внесение изменений в код → подготовка документации → тестовое покрытие → публикация в VCS.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Наблюдение: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Агент успешно завершает типовую последовательность в контролируемых условиях.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Но: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При отклонении от типового сценария (неочевидная зависимость между модулями, не отражённая в структуре кода) агент способен принять решение, формально соответствующее цели, но не соответствующее подразумеваемому смыслу задачи.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Предмет анализа: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Точки цепочки автономных действий, в которых требуется верификация или прямое вмешательство инженера для предотвращения некорректного итогового результата.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Резюме содержательных положений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Часть первая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AB"/>
                </a:solidFill>
              </a:defRPr>
            </a:pPr>
            <a:r>
              <a:t>1. Горизонтальность применения ИИ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ИИ применяется не в одной изолированной точке SDLC, а одновременно на этапах анализа требований, реализации, тестирования, документирования и эксплуатации. Это принципиально отличает текущий этап автоматизации от предшествующих узконаправленных решений.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2. Три инструментальные парадигмы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Классические ML-модели: предсказуемость узкоспециализированного решения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Большие языковые модели (LLM): гибкость генеративной модели общего назначения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ИИ-агенты: автономность, сопряжённая с максимальным уровнем риска и стоимости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222222"/>
                </a:solidFill>
              </a:defRPr>
            </a:pPr>
            <a:r>
              <a:t>Различаются не уровнем демонстрируемого интеллекта, а профилем инженерных гарантий.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Резюме содержательных положений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Часть вторая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AB"/>
                </a:solidFill>
              </a:defRPr>
            </a:pPr>
            <a:r>
              <a:t>3. Принцип минимальной достаточности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Выбор инструмента определяется минимально необходимым уровнем автономности для данной задачи, а не стремлением применить наиболее «продвинутый» метод.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4. Генерация артефакта — начало верификации, а не завершение задачи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Сгенерированный код, тест, документация — черновик. Ответственность за корректность сохраняется за инженером, утвердившим артефакт к использованию.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5. Неснимаемые человеческие компетенции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Постановка цели и критериев успеха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Ответственность за принятое инженерное решение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Проверка результата на соответствие подразумеваемому (а не только явному) смыслу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  •  Оценка допустимого уровня риска при определении степени автономности инструмента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