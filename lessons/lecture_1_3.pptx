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2E86AB"/>
                </a:solidFill>
              </a:defRPr>
            </a:pPr>
            <a:r>
              <a:t>Лекция 1.3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3400" b="1" i="0">
                <a:solidFill>
                  <a:srgbClr val="FFFFFF"/>
                </a:solidFill>
              </a:defRPr>
            </a:pPr>
            <a:r>
              <a:t>Методология анализа задачи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3400" b="1" i="0">
                <a:solidFill>
                  <a:srgbClr val="FFFFFF"/>
                </a:solidFill>
              </a:defRPr>
            </a:pPr>
            <a:r>
              <a:t>и формирования требований к продукту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2800" b="1" i="0">
                <a:solidFill>
                  <a:srgbClr val="FFFFFF"/>
                </a:solidFill>
              </a:defRPr>
            </a:pPr>
            <a:r>
              <a:t>Разработка продукта по спецификации (SDD)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966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CCDD"/>
                </a:solidFill>
              </a:defRPr>
            </a:pPr>
            <a:r>
              <a:t>Дисциплина: «Искусственный интеллект в разработке программного обеспечения»</a:t>
            </a:r>
          </a:p>
          <a:p>
            <a:pPr algn="l">
              <a:spcBef>
                <a:spcPts val="1800"/>
              </a:spcBef>
              <a:spcAft>
                <a:spcPts val="400"/>
              </a:spcAft>
              <a:defRPr sz="1400" b="0" i="0">
                <a:solidFill>
                  <a:srgbClr val="99AABB"/>
                </a:solidFill>
              </a:defRPr>
            </a:pPr>
            <a:r>
              <a:t>Spec-Driven Development • Анализ задачи • Антипаттерны спецификации • ADR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Центральный тезис: точность формулировки как инженерная компетенция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LLM способны генерировать синтаксически корректный код — но разработчики регулярно получают не то, что требовалось.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222222"/>
                </a:solidFill>
              </a:defRPr>
            </a:pPr>
            <a:r>
              <a:t>Причина: не недостаток мощности модели, а недостаточная точность формулировки.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Корень противоречия: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Человек-исполнитель восполняет пробелы: опыт, знание проекта, здравый смысл, предыдущие разговоры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Языковая модель буквально интерпретирует переданный текст и заполняет недостающие детали на основе статистики обучающих данных, а не знания конкретного проекта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400" b="1" i="0">
                <a:solidFill>
                  <a:srgbClr val="222222"/>
                </a:solidFill>
              </a:defRPr>
            </a:pPr>
            <a:r>
              <a:t>Следствие: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Умение формулировать задачу с точностью, достаточной для машинного исполнения — фундаментальная инженерная компетенция, сопоставимая по значимости с умением читать и писать код. Качество результата определяется качеством постановки задачи в большей мере, чем выбором инструмента.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Анатомия разрыва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Четыре источника несоответствия между намерением и результатом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Разрыв между намерением разработчика и поведением сгенерированного кода имеет систематическую природу.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500" b="1" i="0">
                <a:solidFill>
                  <a:srgbClr val="2E86AB"/>
                </a:solidFill>
              </a:defRPr>
            </a:pPr>
            <a:r>
              <a:t>1. Подразумеваемое знание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Задача «добавь валидацию email» → разработчик делает десятки молчаливых предположений (формат, крайние случаи, интеграция, стиль). Модель не разделяет эти предположения — она формирует собственные на основе статистики обучающего корпуса.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500" b="1" i="0">
                <a:solidFill>
                  <a:srgbClr val="2E86AB"/>
                </a:solidFill>
              </a:defRPr>
            </a:pPr>
            <a:r>
              <a:t>2. Неопределённость намерения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«Сделать авторизацию удобнее», «оптимизировать запрос» — описывают цели, а не действия. Язык уместен для коммуникации людей, но для модели это пустые инструкции.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500" b="1" i="0">
                <a:solidFill>
                  <a:srgbClr val="2E86AB"/>
                </a:solidFill>
              </a:defRPr>
            </a:pPr>
            <a:r>
              <a:t>3. Отсутствие критериев проверки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Без указания, как проверить результат — модель генерирует правдоподобно похожее на решение. Правдоподобие ≠ корректность.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500" b="1" i="0">
                <a:solidFill>
                  <a:srgbClr val="2E86AB"/>
                </a:solidFill>
              </a:defRPr>
            </a:pPr>
            <a:r>
              <a:t>4. Неявный контекст системы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Каждая задача встроена в контекст: архитектура, технические решения, соглашения команды. Этот контекст должен быть явно включён в постановку задачи.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Два уровня требований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Бизнес-требования и технические требования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300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114800"/>
                <a:gridCol w="493776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Характеристика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Бизнес-требования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Технические требования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Ключевой вопрос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Зачем? Какую проблему решает?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Как именно система это реализует?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Язык описания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Термины пользователя и бизнеса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Термины компонентов, интерфейсов, структур данных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Субъект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Пользователь, заказчик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Система, модуль, функция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Пример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«Пользователь должен восстановить доступ, если забыл пароль»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«reset_password() генерирует токен длиной 32 символа с TTL 15 минут и отправляет на email»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Кто формулирует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Аналитик, владелец продукта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Архитектор, разработчик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Пригодность для агента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Не пригодны напрямую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Пригодны как входные данные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Ключевое правило: агент работает с техническими требованиями. Трансляция бизнес-требований в технические — человеческая работа, которую нельзя пропустить.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Методология анализа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Пять шагов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Структурированный анализ задачи — обязательный предварительный этап. Пропуск → пробелы в понимании → усиливаются в результатах генерации.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1. Сформулировать проблему, а не решение.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«Нужно добавить кэширование» — предрешает. «Запрос к БД выполняется при каждом обращении и занимает 1,5 с» — описывает проблему.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2. Определить границы задачи.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Явно сформулировать, что входит в задачу, а что — нет. Агент может выйти за «очевидные» границы.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3. Выявить ограничения и предположения.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Технологические, архитектурные, ресурсные. Каждое невысказанное предположение — источник неожиданного поведения.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4. Определить критерии успеха до начала реализации.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Не «работать быстро», а «время ответа при 100 одновременных пользователях ≤ 200 мс».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5. Декомпозировать на атомарные подзадачи.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Атомарная = можно выполнить и проверить независимо. Большая задача → много точек самостоятельных решений агента.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Диагностическая ценность анализа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Процесс прохождения пяти шагов регулярно обнаруживает, что задача понята неверно.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Диагностический тест готовности: если невозможно сформулировать ≥ 3 конкретных тест-кейса — понимание недостаточно.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2286000"/>
          <a:ext cx="11430000" cy="3182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5029200"/>
              </a:tblGrid>
              <a:tr h="53035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Этап обнаружения пробела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Стоимость исправления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Последствия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Анализ задачи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Минимальная (правка текста)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Уточнение формулировки до генерации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Написание спецификации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Низкая (ревью документа)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Уточнение спецификации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После первой генерации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Средняя (повторная генерация)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Потеря 1 итерации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После нескольких итераций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Необходимость пересмотра архитектурных решений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На этапе тестирования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Очень высокая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Переработка реализации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Обнаружение непонимания на этапе анализа — значительно менее затратный исход, чем после серии итераций генерации.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Структура SDD-спецификации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Семь обязательных компонентов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234440"/>
          <a:ext cx="11795760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468880"/>
                <a:gridCol w="4114800"/>
                <a:gridCol w="4754880"/>
              </a:tblGrid>
              <a:tr h="53035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№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Компонент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Функция в спецификации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Последствие отсутствия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Назначение и контекст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Описывает место компонента в архитектуре и его роль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Агент реализует изолированно, игнорируя системный контекст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Интерфейс: сигнатура и типы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Точно определяет входы и выходы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Агент самостоятельно принимает решения о типах, именах, структурах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Предусловия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Формулирует контракт: что должно быть истинным перед вызовом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Избыточные проверки или пропуск границ ответственности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Постусловия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Описывает гарантии для всех сценариев выполнения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Исключительные пути остаются неопределёнными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Граничные случаи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Явно перечисляет нестандартные входы и ожидаемое поведение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Граничные случаи становятся источниками ошибок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Критерии приёмки и тест-кейсы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Формулирует проверяемые условия завершённости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Тесты неполны; результат не верифицируем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Ограничения реализации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Делает архитектурные соглашения явными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Агент нарушает принятые паттерны системы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Каждый компонент закрывает класс вопросов, которые агент разрешит самостоятельно — без знания специфики системы.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Компонент 1: Назначение и 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Функция: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Исполнитель должен понять не только ЧТО делает компонент, но и его роль в архитектуре системы: с какими компонентами взаимодействует, где в цепочке находится, какие ограничения из этого следуют.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1" i="0">
                <a:solidFill>
                  <a:srgbClr val="C0392B"/>
                </a:solidFill>
              </a:defRPr>
            </a:pPr>
            <a:r>
              <a:t>Это не повторение бизнес-требования. Бизнес-требование — ценность для пользователя. Назначение в SDD — позиция в системе.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30352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Модуль: FileValidator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Назначение: Проверяет загружаемые пользователем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файлы перед их передачей в очередь обработки.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Является первым барьером в pipeline загрузки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файлов; вызывается из FileUploadController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до вызова StorageService.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Не отвечает за сохранение файлов и не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взаимодействует с базой данных напрямую.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400"/>
              </a:spcAft>
              <a:defRPr sz="1200" b="0" i="1">
                <a:solidFill>
                  <a:srgbClr val="555555"/>
                </a:solidFill>
              </a:defRPr>
            </a:pPr>
            <a:r>
              <a:t>Из этого описания агент извлекает ограничения, не произнесённые явно: модуль не обращается к StorageService; не последняя инстанция в цепочке; ответственность — только валидация.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Компонент 2: Интерфейс — сигнатура и типы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22222"/>
                </a:solidFill>
              </a:defRPr>
            </a:pPr>
            <a:r>
              <a:t>Задача: исключить самостоятельные решения агента о типах, именах, структурах. Описание должно быть настолько конкретным, чтобы между спецификацией и сигнатурой не оставалось зазора.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30352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def validate_file(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file_path: str,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user_context: UserContext,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config: ValidationConfig = DEFAULT_CONFIG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) -&gt; ValidationResult: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ValidationResult: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is_valid: bool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errors: list[ValidationError]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file_metadata: FileMetadata |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"""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Принципиальные детали: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Структура возвращаемого типа описана явно, включая поведение каждого поля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Смысл каждого параметра пояснён комментарием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Необязательный параметр имеет значение по умолчанию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C0392B"/>
                </a:solidFill>
              </a:defRPr>
            </a:pPr>
            <a:r>
              <a:t>Без этих деталей агент выберет имена полей, типы и правила заполнения по статистике обучающего корпуса.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Компонент 3: Предусловия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Предусловия для FileValidator: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— file_path указывает на существующий файл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(FileNotFoundException не является ответственностью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этого модуля; вызывающий код обязан убедиться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в существовании файла перед вызовом)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— Пользователь аутентифицирован: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user_context.is_authenticated == True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— Размер файла не проверяется на уровне ограничений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файловой системы ОС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Двойная функция предусловий: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1. Предотвращает избыточный защитный код: агент не обрабатывает случаи, которые по архитектуре не должны доходить до компонента.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2. Документирует границы ответственности — критично при ревью и поддержке.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38912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114800"/>
                <a:gridCol w="47548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Характеристика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Предусловия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Граничные случаи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Что описывают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Условия перед вызовом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Нестандартные, но допустимые входные данные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Ответственность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Вызывающий код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Данный компонент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При нарушении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Поведение не определено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Специфицированный результат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Компонент 4: Постусловия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4389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Постусловия — нормальный путь (файл прошёл валидацию):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Возвращается ValidationResult с is_valid=True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file_metadata содержит: размер файла, формат,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хэш содержимого (SHA-256)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В аудит-лог записывается событие VALIDATION_SUCCESS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с user_id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Постусловия — путь ошибки (неподдерживаемый формат):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Возвращается ValidationResult с is_valid=False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errors содержит: код UNSUPPORTED_FORMAT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file_metadata равен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Событие VALIDATION_FAILURE с указанием причины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Постусловия — путь ошибки (превышен размер):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is_valid=False, код FILE_TOO_LARGE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Содержит фактический размер и максимально допустимый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file_metadata равен 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1200" b="0" i="1">
                <a:solidFill>
                  <a:srgbClr val="555555"/>
                </a:solidFill>
              </a:defRPr>
            </a:pPr>
            <a:r>
              <a:t>Качество постусловий напрямую определяет качество генерируемых тестов. Без постусловий для исключительных путей агент формирует их поведение произвольно.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Компонент 5: Граничные случаи и исключительные ситуации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400800" cy="4389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Граничные случаи для FileValidator: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Пустой файл (0 байт):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is_valid=False, код ошибки EMPTY_FILE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Файл с валидным расширением, но невалидным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содержимым (.csv с бинарными данными):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is_valid=False, код CONTENT_FORMAT_MISMATCH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Файл размером ровно MAX_FILE_SIZE байт: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is_valid=True (граница включительно)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Имя файла содержит спецсимволы или пробелы: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обрабатывается корректно; имя файла не влияет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на результат валидации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file_path — символическая ссылка: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компонент следует по ссылке и валидирует целевой файл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3716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Ключевое свойство: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Это ситуация, которую компонент ОБЯЗАН обработать корректно — в отличие от нарушения предусловий (где поведение не определено).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Это наиболее трудоёмкий и одновременно наиболее ценный компонент спецификации: именно граничные случаи становятся источником производственных ошибок.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1" i="0">
                <a:solidFill>
                  <a:srgbClr val="C0392B"/>
                </a:solidFill>
              </a:defRPr>
            </a:pPr>
            <a:r>
              <a:t>Каждый не включённый в спецификацию граничный случай — место, где агент примет самостоятельное решение.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Компонент 6: Критерии приёмки и тест-кейсы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400800" cy="4114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[ ] TC-01: validate_file("valid.csv", ctx)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  → is_valid=True, file_metadata не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[ ] TC-02: validate_file("file.exe", ctx)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  → is_valid=False, код UNSUPPORTED_FORMAT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[ ] TC-03: validate_file("big_file.csv", ctx),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  размер &gt; 10 МБ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  → is_valid=False, код FILE_TOO_LARGE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[ ] TC-04: validate_file("empty.csv", ctx)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  → is_valid=False, код EMPTY_FILE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[ ] TC-05: validate_file("valid.csv", ctx)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  → аудит-лог содержит запись с корректным user_id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[ ] TC-06: Все пути кода покрыты тестами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  (coverage ≥ 90%)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Критерии приёмки — мост между спецификацией и тестированием.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Переводят текстовые описания поведения в конкретные проверяемые утверждения.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Принципиальное требование: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Критерии должны быть сформулированы ДО запуска агента, а не выработаны по результатам просмотра кода.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Критерий, сформулированный после просмотра результата, с высокой вероятностью будет подстроен под то, что реализовано, а не под то, что требовалось.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Компонент 7: Ограничения реализации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Ограничения реализации для FileValidator: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— Не добавлять новые зависимости; допустимы только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стандартная библиотека и уже используемые: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pathlib, hashlib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— Логирование только через audit_logger;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print и стандартный logging запрещены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— Не загружать файл целиком в память: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использовать чтение чанками для проверки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— Метод должен быть потокобезопасным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297680"/>
          <a:ext cx="10972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Категория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Пример ограничения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Зависимости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«Только стандартная библиотека; новые зависимости не добавляются»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Архитектурные паттерны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«Прямого обращения к БД нет; только через репозиторий»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Существующая инфраструктура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«Логирование только через audit_logger»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Ресурсные ограничения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«Использование памяти не более N МБ»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Потокобезопасность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«Метод должен быть потокобезопасным»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от размытой постановки к SDD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Анализ задачи «поиск дублирования кода»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Исходная постановка: «добавить анализ кода на наличие дублирования» — бизнес-формулировка, не пригодная для агента.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Шаг 1. Проблема: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Разработчики вносят дублирующиеся фрагменты кода, не замечая при быстром ревью. При изменении логики правка вносится в одном месте, но не во всех копиях. Требуется автоматизированный инструмент поиска семантически похожих фрагментов в пределах одного модуля.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Шаг 2. Границы: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Входит: анализ одного Python-файла; поиск дублирующихся функций и блоков от 10 строк; вывод отчёта в машиночитаемом формате. Не входит: межфайловый анализ; автоматическое рефакторирование; другие ЯП.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Шаг 3. Ограничения: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Только AST-анализ (без запуска кода); без внешних ML-моделей (детерминированно); результат — JSON.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Шаг 4. Критерии: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Находит все пары функций с коэффициентом сходства ≥ 0.8 по метрике Жаккара на токенах AST; &lt; 5 с для файла до 1000 строк.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SDD DuplicateDetector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Интерфейс и предусловия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Назначение и контекст: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Модуль: DuplicateDetector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Поиск семантически дублирующихся фрагментов кода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в одном Python-файле. Используется как инструмент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CLI-агента при анализе кода репозитория.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Не модифицирует исходный файл.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Интерфейс: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detect_duplicates(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file_path: str,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min_lines: int = 10,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similarity_threshold: float = 0.8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) -&gt; DuplicationReport: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DuplicationReport: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file_path: str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pairs: list[DuplicatePair]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analysis_time_ms: int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DuplicatePair: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fragment_a: CodeFragment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fragment_b: CodeFragment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similarity_score: float  # 0.0–1.0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Предусловия: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file_path указывает на существующий .py файл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Файл синтаксически корректен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min_lines ≥ 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similarity_threshold ∈ [0.0, 1.0]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SDD DuplicateDetector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Постусловия и граничные случаи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Постусловия — нормальный путь: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Возвращается DuplicationReport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pairs содержит все пары с similarity_score ≥ threshold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Пары не дублируются: (A,B) есть → (B,A) отсутствует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analysis_time_ms отражает фактическое время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Постусловия — файл без дублирований: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DuplicationReport с пустым списком pairs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Граничные случаи: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Файл &lt; min_lines строк: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пустой DuplicationReport, исключений нет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Синтаксическая ошибка: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выбрасывается SyntaxError с указанием строки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Два абсолютно идентичных фрагмента: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similarity_score == 1.0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Фрагмент сравнивается сам с собой: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исключается из pairs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Файл только из однострочных функций: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пустой DuplicationReport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SDD DuplicateDetector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Критерии приёмки и ограничения реализации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Критерии приёмки: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[ ] TC-01: Файл с двумя идентичными функциями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→ 1 пара в pairs, similarity_score == 1.0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[ ] TC-02: Файл без дублирований → pairs пустой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[ ] TC-03: Файл с 3 похожими функциями → 3 пары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[ ] TC-04: Файл &lt; min_lines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→ пустой DuplicationReport, исключений нет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[ ] TC-05: Синтаксически некорректный файл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→ SyntaxError с указанием строки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[ ] TC-06: Файл объёмом 1000 строк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→ analysis_time_ms &lt; 5000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Ограничения реализации: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Только стандартная библиотека: ast, tokenize, time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Сходство: метрика Жаккара на типах AST-узлов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Анализируемый код не выполняется ни при каких условиях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Нормальные пути → DuplicationReport;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исключения только для аномалий (нарушение предусловий)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Пять антипаттернов спецификации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Систематический разбор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234440"/>
          <a:ext cx="119786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560320"/>
                <a:gridCol w="3200400"/>
                <a:gridCol w="4114800"/>
              </a:tblGrid>
              <a:tr h="70408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Антипаттерн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Плохая формулировка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Корректная формулировка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Механизм проблемы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Намерение вместо поведения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«Функция должна корректно обрабатывать ошибки»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«При невалидном входе возвращает Result.Err с кодом INVALID_INPUT; исключения не пробрасываются»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«Корректно» не имеет формального определения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Относительные характеристики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«Функция должна работать быстро»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«Время ≤ 100 мс при списке до 10 000 элементов на 2 CPU»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«Быстро», «эффективно», «оптимально» не измеримы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Имплицитные зависимости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«Функция сохраняет результат в БД»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«Вызывает repository.save(result); прямого обращения к БД нет»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Агент реализует паттерн доступа к БД по умолчанию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Неполное покрытие путей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«Функция возвращает список пользователей»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«Возвращает список (может быть пустым); при недоступности БД — DatabaseConnectionError»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Исключительные пути на усмотрение агента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Отсутствие контекста системы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«Добавить логирование»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«Логирование через src/infrastructure/logger.py; print и стандартный logging не использовать»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Агент реализует логирование по собственным стандартам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Антипаттерн: «намерение вместо поведения»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Развёрнутый анализ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Самый распространённый антипаттерн. Постановщик описывает желаемое качество, а не конкретное поведение в конкретных ситуациях.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Механизм: «корректно», «правильно», «безопасно» — заимствованы из человеческой коммуникации. Агент не разделяет профессиональный контекст; при встрече с неопределённым термином подставляет наиболее вероятную интерпретацию из обучающих данных.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291840"/>
          <a:ext cx="11430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56692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Измерение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Намерение (плохо)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Поведение (хорошо)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Формулировка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«Корректно обрабатывать ошибки»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«При None → ValidationError(NULL_INPUT); при пустой строке → ValidationError(EMPTY_INPUT)»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Проверяемость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 проверяемо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Проверяемо тест-кейсом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Зависимость от интерпретации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Полная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Отсутствует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Возможность написать тест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Невозможно без домысливания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Непосредственно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Правило: если требование нельзя превратить в автоматический тест без дополнительных предположений — это намерение, а не поведение.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Антипаттерн: «неполное покрытие путей выполнения»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40080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Функция get_user_list(filters, timeout_seconds)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├── Нормальный путь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   └── Возвращает list[User] (может быть пустым)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├── Путь ошибки: БД недоступна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   └── Выбрасывает DatabaseConnectionError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├── Путь ошибки: запрос превысил timeout_seconds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   └── Выбрасывает QueryTimeoutError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       с указанием фактического времени выполнения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├── Путь ошибки: невалидные filters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   └── Выбрасывает InvalidFilterError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       с указанием конкретного невалидного поля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└── Граничный случай: результирующий список пуст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└── Возвращает [], не выбрасывает исключений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</a:defRPr>
            </a:pPr>
            <a:r>
              <a:t>Спецификация, описывающая только нормальный путь, неполна по определению.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Каждая ветвь без явного описания — отдельное место, где агент принимает самостоятельное решение.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Решения агента для разных ветвей могут быть несогласованными между собой — поведение системы непредсказуемо при отклонении от нормального пути.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Итерационная природа спецификации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Agile-цикл в AI PDLC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400800" cy="4114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1.АНАЛИЗ      2.СПЕЦИФИКАЦИЯ    3.ГЕНЕРАЦИЯ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──────────    ──────────────    ───────────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Проблема?     Назначение/конт.  Агент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Границы?  →   Интерфейс     →  реализует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Ограничения?  Пред/постусловия  по SDD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Критерии?     Граничные случаи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      Тест-кейсы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6.ИТЕРАЦИЯ    5.РЕВЬЮ           4.ВЕРИФИКАЦИЯ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──────────    ────────          ────────────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Уточнить  ←   Человек       ←  Тесты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SDD           проверяет        выполнены?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если нужно    результат        Критерии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                       достигнуты?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Ключевые наблюдения: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Первая версия спецификации никогда не полна. Это не основание отказаться — это определяет режим работы: итеративное уточнение.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Неожиданный результат генерации — почти всегда сигнал о пробеле в спецификации, а не о некачественной работе агента.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Шаг 4 (верификация) vs Шаг 5 (ревью):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Автоматическая верификация: соответствует ли код спецификации?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Ревью человеком: правильна ли сама спецификация?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1" i="0">
                <a:solidFill>
                  <a:srgbClr val="C0392B"/>
                </a:solidFill>
              </a:defRPr>
            </a:pPr>
            <a:r>
              <a:t>Это разные вопросы. Тесты могут проходить при некорректной спецификации.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Спецификация как инструмент мышления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Эпистемологическая функция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Процесс написания спецификации — инструмент прояснения мышления: он систематически обнаруживает, что задача понята неверно, граничные случаи не продуманы, критерии противоречивы.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Момент, когда автор не может сформулировать постусловие для одного из путей — это момент обнаружения неполноты понимания, а не административной неудачи.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65760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8463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Характеристика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Без спецификации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По SDD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Когда обнаруживаются пробелы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 процессе или после реализации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На этапе написания спецификации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Стоимость исправления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Высокая (переработка кода)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Низкая (правка текста)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Прозрачность решений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Скрыта в коде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Зафиксирована в документе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Возможность ревью до реализации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Отсутствует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Присутствует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Накопленная документация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Первоклассный артефакт проекта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SDD на уровне архитектуры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Масштабирование принципа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56692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Характеристика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Компонентный SDD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Системный SDD / ADR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Единица описания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Функция, модуль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Компонент системы, архитектурное решение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Ключевые вопросы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Интерфейс, предусловия, постусловия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Какие компоненты, как взаимодействуют, почему эти технологии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Документирует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Контракт компонента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Обоснование решений и trade-off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Аудитория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Агент, разработчик компонента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Вся команда, будущие разработчики, комиссия защиты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Итерируется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При каждой задаче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При каждом архитектурном решении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Долгосрочная ценность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Средняя (устаревает при рефакторинге)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Высокая (фиксирует «почему», а не «что»)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Системная SDD-документация — основное документальное обоснование принятых решений при защите проекта.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Связь спецификации с автоматической генерацией тестов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Компонент SDD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Что генерирует в тестах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Интерфейс (сигнатура и типы)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Структуру тестовых вызовов, типы моков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Предусловия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Негативные тест-кейсы на нарушение контракта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Постусловия (нормальный путь)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Happy-path тест-кейсы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Постусловия (пути ошибок)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Error-path тест-кейсы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Граничные случаи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Edge-case тест-кейсы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Критерии приёмки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Приёмочные тесты; критерии покрытия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Ограничения реализации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Проверки отсутствия запрещённых зависимостей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3035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86AB"/>
                </a:solidFill>
              </a:defRPr>
            </a:pPr>
            <a:r>
              <a:t>Качество сгенерированных тестов прямо пропорционально полноте описания постусловий, граничных случаев и критериев приёмки.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C0392B"/>
                </a:solidFill>
              </a:defRPr>
            </a:pPr>
            <a:r>
              <a:t>Спецификация без постусловий для исключительных путей → тесты только для нормального пути → покрытие завышено формально, но критическое поведение не проверяется.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Декомпозиция как управление неопределённостью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86AB"/>
                </a:solidFill>
              </a:defRPr>
            </a:pPr>
            <a:r>
              <a:t>Атомарная задача — задача, результат которой можно верифицировать независимо от любой другой. Если проверка задачи A требует завершения задачи B — декомпозиция недостаточна.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Большая задача → широкое пространство самостоятельных решений агента. Каждая атомарная подзадача → меньшее пространство допустимых реализаций → ниже вероятность отклонения.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291840"/>
          <a:ext cx="11430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657600"/>
                <a:gridCol w="42976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Параметр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Монолитная задача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Декомпозированные атомарные задачи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Число точек самостоятельных решений агента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Высокое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Низкое на задачу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Возможность промежуточной верификации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Отсутствует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Присутствует после каждой задачи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Локализация ошибки при несоответствии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Трудная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Точная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Итерационная стоимость уточнения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Низкая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Практическое правило: задача декомпозирована достаточно, если для каждой подзадачи можно немедленно сформулировать ≥ 3 тест-кейса.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Предусловия и граничные случаи: разграничение ответственности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Функция: process_payment(amount: float, account_id: str)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→ PaymentResult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Предусловия (ответственность вызывающего кода):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— account_id указывает на существующий аккаунт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— Пользователь аутентифицирован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— amount &gt;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Граничные случаи (ответственность компонента):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— amount == 0.01 (минимальная сумма):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обрабатывается нормально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— amount превышает баланс: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PaymentResult с кодом INSUFFICIENT_FUNDS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— Платёжный сервис недоступен: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PaymentResult с кодом SERVICE_UNAVAILABLE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— Транзакция превысила timeout: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PaymentResult с кодом TRANSACTION_TIMEOUT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Типология граничных случаев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Систематический подход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75488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Тип граничного случая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Описание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Пример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Граница допустимого диапазона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Значение точно на границе ограничения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Файл размером ровно MAX_FILE_SIZE байт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Пустое значение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Пустая строка, пустой список, 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validate_file("empty.csv")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Мин./макс. значение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Крайние значения числовых параметров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Список из 1 элемента; 10⁶ элементов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Недоступный внешний ресурс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БД, внешний API, файловая система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PaymentService недоступен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Несоответствие типа и содержимого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Формат корректен, содержимое невалидно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.csv с бинарным содержимым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Дублирование / самореференция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Элемент сравнивается сам с собой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Fragment(A) vs Fragment(A)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Специальные символы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Символы вне ASCII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Имя файла с пробелами, Unicode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Конкурентный доступ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Несколько одновременных вызовов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Потокобезопасность FileValidator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Систематический обход типологии позволяет сформулировать граничные случаи полно, а не интуитивно.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Критерии приёмки: требования к формулировке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5852160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Требование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Некорректно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Корректно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Конкретные входные данные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«Обрабатывает невалидный ввод»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«validate_file("file.exe", ctx) → UNSUPPORTED_FORMAT»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Конкретный ожидаемый результат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«Возвращает ошибку»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«ValidationError с кодом FILE_TOO_LARGE и полями actual_size, max_size»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Проверяемость без домысливания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«Логирование работает корректно»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«Аудит-лог содержит запись с полями user_id, event_type, timestamp»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Независимость тест-кейсов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Зависит от результата другого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Каждый тест с независимыми входными данными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 реализации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Критерий после просмотра кода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Критерий до запуска агента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Принцип «до, а не после»: критерий, сформулированный после результата → адаптирован под реализованное, а не под требуемое.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Ревью спецификации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Человеческая верификация до генерации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Два этапа верификации — принципиально различны: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Верификация кода (шаг 4): соответствует ли реализованный код спецификации? (вопрос соответствия артефакта документу)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Ревью спецификации: корректно ли спецификация отражает требуемое поведение системы? (вопрос правильности самого документа)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Тесты могут полностью проходить при спецификации, содержащей ошибку в логике. Верификация кода этого не обнаружит.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1124712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Чек-лист ревью спецификации: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□ Описаны все пути выполнения, включая исключительные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□ Граничные случаи покрывают все типы из типологии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□ Критерии приёмки сформулированы в проверяемых терминах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□ Ограничения реализации отражают текущие соглашения системы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□ Предусловия явно разграничивают ответственность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□ Типы данных в интерфейсе не допускают двусмысленности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□ Постусловия для всех путей ошибок специфицированы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□ Можно сформулировать ≥ 3 тест-кейса для каждого пути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Спецификация имплицитных архитектурных соглашений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61264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Категория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Что подразумевается в команде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Что агент делает без указания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Паттерн доступа к данным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Только через репозиторий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Прямой запрос к БД в коде компонента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Логирование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Только через audit_logger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print(), стандартный logging, новая библиотека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Обработка ошибок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Возврат Result-типа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Выброс исключений; сокрытие ошибок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Зависимости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Внедрение через конструктор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Создание зависимостей внутри метода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Новые библиотеки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 добавлять без ревью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Автоматическое добавление зависимостей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Именование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Следовать соглашениям проекта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Именование по статистике обучающего корпуса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Архитектурное соглашение, не зафиксированное в спецификации, не является соглашением для агента.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антипаттерн «имплицитные зависимости»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Механизм и последствия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</a:defRPr>
            </a:pPr>
            <a:r>
              <a:t>Плохая формулировка: «Функция сохраняет результат в базе данных»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Агент с высокой вероятностью создаст прямое обращение к БД внутри функции — этот паттерн широко представлен в обучающих данных.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Последствия: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Нарушение принципа единственной ответственности: бизнес-логика смешана с инфраструктурным кодом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Невозможность изолированного тестирования: тест требует реальной БД или сложного мокирования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Нарушение архитектурного паттерна: прямой доступ к БД там, где ожидается репозиторий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• Скрытая зависимость в сигнатуре: не видна в интерфейсе, трудно обнаруживается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400" b="1" i="0">
                <a:solidFill>
                  <a:srgbClr val="27AE60"/>
                </a:solidFill>
              </a:defRPr>
            </a:pPr>
            <a:r>
              <a:t>Корректная формулировка: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«Функция вызывает user_repository.save(user), где user_repository — зависимость типа UserRepository, передаваемая через конструктор. Прямого обращения к БД нет. Сигнатура конструктора: __init__(self, user_repository: UserRepository)»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Метрика качества спецификации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Число итераций до соответствия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65836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Число итераций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Интерпретация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Вероятные причины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1–2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Высокое качество спецификации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Полные постусловия, граничные случаи, явные ограничения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3–5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Умеренное качество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Пропущены отдельные граничные случаи или ограничения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6–10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Низкое качество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Неполные постусловия, размытые критерии, антипаттерны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&gt;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Критически неполная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Отсутствие ключевых компонентов; бизнес-требование вместо технического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3192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86AB"/>
                </a:solidFill>
              </a:defRPr>
            </a:pPr>
            <a:r>
              <a:t>Число итераций измеряет полноту спецификации, а не способность агента.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При одном и том же агенте: полная спецификация → 1–2 итерации; неполная → 10+.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Правильная реакция на высокое число итераций: найти компонент спецификации с пробелом и заполнить его — не искать другой инструмент генерации.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Формализация критериев успеха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От качественного к измеримому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280160"/>
          <a:ext cx="1179576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585216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Качественный критерий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Вопросы для операционализации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Пример измеримого критерия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«Работает быстро»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При какой нагрузке? На каком оборудовании? Какой перцентиль?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«P95 ≤ 200 мс при 100 одновременных запросах на 2 vCPU»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«Надёжно обрабатывает ошибки»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Какие именно ошибки? Что значит «обрабатывает»?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«Retry 3× с интервалом 1 с; после 3 неудач — ServiceUnavailableError»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«Хорошее покрытие тестами»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Какой %? Какие типы путей?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«Coverage ≥ 90%; обязательно покрыты все пути ошибок»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«Масштабируется»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 какого объёма? Какой деградации допустима?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«Линейная деградация до 10⁶ элементов; свыше O(n log n) недопустима»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«Удобный интерфейс»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Для кого? По каким критериям?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«Вызов ≤ 3 строки кода; не требует знания внутренней структуры»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Неспособность операционализировать критерий — сигнал: либо требование бессмысленно, либо решение откладывается.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Контекст системы как обязательный элемент спецификации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Системный контекст для FileValidator: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Место в архитектуре: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Вызывается из: FileUploadController.handle_upload()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Вызывает: audit_logger.log_event()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Не взаимодействует с: StorageService, UserRepository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Соглашения системы: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Язык: Python 3.11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Обработка ошибок: через ValidationResult, не через исключения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Стиль именования: snake_case, PascalCase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Зависимости: внедрение через конструктор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Существующие компоненты: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audit_logger: src/infrastructure/audit_logger.py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UserContext: src/domain/user_context.py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ValidationResult: src/domain/validation_result.py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(структура уже определена, изменять нельзя)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Без явного указания на существующие компоненты агент создаёт новые — с именами и структурами, отличающимися от принятых в системе.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Специфика SDD для различных типов компонентов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234440"/>
          <a:ext cx="1179576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585216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Тип компонента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Критически важные компоненты SDD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Специфические требования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Функция валидации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Граничные случаи, постусловия всех путей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Исчерпывающее перечисление допустимых/недопустимых входных данных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Функция трансформации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Интерфейс (типы), постусловия норм. пути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Точное описание выходного формата; обработка пустых входных данных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Работа с внешним сервисом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Постусловия путей ошибок, ограничения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Поведение при недоступности; retry-политика; timeout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Функция записи состояния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Постусловия, ограничения (транзакционность)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Атомарность; поведение при частичном успехе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Алгоритм поиска/классификации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Критерии приёмки с метриками, граничные случаи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Метрика качества; пороговые значения; пустой результат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CLI-инструмент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Интерфейс (аргументы), критерии приёмки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Коды завершения; формат вывода; обработка stdin/stdout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спецификация функции работы с внешним сервисом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1612880" cy="5029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Модуль: NotificationService.send_email()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Интерфейс: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def send_email(recipient: EmailAddress,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   template_id: str,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   context: dict[str, str],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   timeout_seconds: float = 5.0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) -&gt; SendResult: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Успех: SendResult(success=True, message_id=&lt;str&gt;)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+ аудит-лог NOTIFICATION_SENT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Сервис недоступен: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SendResult(success=False, SERVICE_UNAVAILABLE)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3 попытки с интервалом 1 с; исключений нет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Timeout: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SendResult(success=False, TIMEOUT)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timeout_seconds — к каждой попытке отдельно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Невалидный template_id: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SendResult(success=False, INVALID_TEMPLATE)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попытки повтора не выполняются (не транзиентная ошибка)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Граничные случаи: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Лишние ключи context: игнорируются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Отсутствует обязательный ключ: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TEMPLATE_CONTEXT_MISSING без попыток отправки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Итерационное уточнение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Анализ типичного цикла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</a:defRPr>
            </a:pPr>
            <a:r>
              <a:t>Исходная спецификация (неполная):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parse_config(config_path) → AppConfig. Постусловия: «Возвращает AppConfig с параметрами из файла».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Результат: агент при отсутствии файла создаёт новый конфигурационный файл с настройками по умолчанию.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Диагностика: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Пробел — не описано поведение при отсутствии файла. Агент сделал предположение, разумное в одних контекстах, но недопустимое в данном.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7AE60"/>
                </a:solidFill>
              </a:defRPr>
            </a:pPr>
            <a:r>
              <a:t>Итерация 1: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Добавлено: «При отсутствии файла — ConfigFileNotFoundError с указанием пути. Создание файла по умолчанию не выполняется».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Результат: исключение выбрасывается, но синтаксические ошибки в файле поглощаются молча.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7AE60"/>
                </a:solidFill>
              </a:defRPr>
            </a:pPr>
            <a:r>
              <a:t>Итерация 2: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Добавлено: «При синтаксической ошибке YAML — ConfigParseError с номером строки и описанием ошибки».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Вывод: каждый неожиданный результат — точный указатель на пробел в спецификации. Два цикла уточнения дали полную спецификацию.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SDD и техническая документация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Место в репозитории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114800"/>
                <a:gridCol w="53949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Аспект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Требование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Обоснование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Расположение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Директория /specs в корне репозитория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Обнаруживаемость; явный статус артефакта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Версионирование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Вместе с кодом в VCS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История изменений = история решений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Синхронизация с кодом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Обновление при каждом изменении интерфейса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Устаревшая спецификация хуже отсутствующей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Финальная версия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Фиксируется после завершения итерационного цикла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Отражает реальное поведение реализации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Формат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Текстовый (Markdown, YAML); не бинарный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Возможность diff; читаемость в ревью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Связь с кодом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Ссылка на спецификацию в docstring модуля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Обнаруживаемость из кода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Финальная спецификация описывает намерения, а не только реализацию — она точнее кода как документ поведения компонента.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Разграничение ответственности в AI-first команде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Аналитик, архитектор, агент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280160"/>
          <a:ext cx="117957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35661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Компонент SDD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Кто формирует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Кто проверяет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Кто использует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Бизнес → техн. требования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Аналитик + архитектор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Владелец продукта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Разработчик / агент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Назначение и контекст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Архитектор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Ведущий разработчик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Интерфейс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Архитектор + разработчик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Ведущий разработчик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Предусловия и постусловия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Разработчик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Ведущий разработчик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 + тест-инженер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Граничные случаи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Разработчик + QA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QA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 + тест-инженер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Критерии приёмки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Разработчик + QA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Владелец продукта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Тест-инженер, агент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Ограничения реализации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Архитектор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Архитектор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Агент — исполнитель, не принимает архитектурных решений. Все решения — люди → спецификация → генерация.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Общие принципы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Чего не должна делать спецификация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234440"/>
          <a:ext cx="117957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53949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Что недопустимо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Почему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Как правильно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«Почему» без «что»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Агент не выводит поведение из обоснования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Явно указать поведение; обоснование — отдельно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«и/или» в постусловиях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Создаёт неоднозначность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Раздельные постусловия для каждого варианта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Ссылка на «стандартное поведение»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Стандарт не определён для данного контекста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Явно описать ожидаемое поведение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Неопределённые местоимения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Агент может привязать к неверному объекту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Использовать явные имена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«По возможности» / «если применимо»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Агент не имеет критерия применимости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Явно указать условие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Описание реализации вместо поведения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Привязывает к решению без необходимости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Описывать наблюдаемое поведение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Противоречивые постусловия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Агент реализует одно произвольно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Верифицировать внутреннюю согласованность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Принцип проверки: нет ли случая, когда граничное условие одного пути пересекается с условием другого?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Переход к архитектурному уровню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ADR как SDD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  <a:gridCol w="56692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Раздел ADR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Содержание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Аналог в компонентном SDD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Контекст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Условия, при которых принималось решение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Назначение и контекст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Решение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Что именно выбрано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Ограничения реализации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Обоснование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Почему именно это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— (уровень выше)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Альтернативы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Что было отклонено и почему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Последствия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Trade-off принятого решения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Постусловия на системном уровне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Статус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Действующее / устаревшее / заменено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572000"/>
            <a:ext cx="11247120" cy="2011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ADR-007: PostgreSQL как основное хранилище данных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Контекст: Система требует ACID-транзакций и сложных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реляционных запросов. Объём: до 10^7 записей.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Решение: PostgreSQL 15.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Отклонённые альтернативы: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MongoDB: недостаточная поддержка транзакций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MySQL: ограничения в JSON-полях и оконных функциях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Последствия: горизонтальное масштабирование усложнено.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Сводная 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От бизнес-требования до верифицированного кода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5029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БИЗНЕС-ТРЕБОВАНИЕ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«Пользователь должен получать уведомление о результате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обработки загруженного файла»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АНАЛИЗ ЗАДАЧИ (аналитик + архитектор)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Проблема: отсутствие обратной связи после загрузки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Границы: только email-уведомление; push — вне задачи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Ограничения: существующий NotificationService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— Критерии: письмо доставлено в течение 60 с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ТЕХНИЧЕСКОЕ ТРЕБОВАНИЕ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«NotificationService.send_email() вызывается из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FileProcessingService после завершения обработки»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SDD-СПЕЦИФИКАЦИЯ (разработчик)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[7 компонентов: интерфейс, пред/постусловия,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граничные случаи, критерии приёмки, ограничения]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ГЕНЕРАЦИЯ → ВЕРИФИКАЦИЯ ТЕСТАМИ → РЕВЬЮ ЧЕЛОВЕКОМ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│              │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▼              ▼                    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Код         Тесты проходят?    Спецификация верна?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│              │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└──────────────┴────────────────────┘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                 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ФИНАЛЬНЫЙ КОД + ФИНАЛЬНАЯ СПЕЦИФИКАЦИЯ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      (оба артефакта фиксируются в репозитории)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Резюме: методология анализа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Пять шагов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2926080"/>
                <a:gridCol w="3200400"/>
              </a:tblGrid>
              <a:tr h="64007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Шаг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Ключевой вопрос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Результат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Сигнал пропуска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1. Сформулировать проблему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Что не работает или отсутствует?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Описание проблемы (не решения)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Спецификация предрешает реализацию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2. Определить границы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Что входит? Что явно не входит?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Явные границы задачи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 выходит за ожидаемые границы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3. Выявить ограничения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Какие ограничения? Какие предположения?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Список ограничений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Конфликты с архитектурными соглашениями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4. Определить критерии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Как проверить, что задача выполнена?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Измеримые критерии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Критерии корректируются под результат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5. Декомпозировать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Можно ли проверить независимо?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Список атомарных задач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Трудно локализовать ошибки генерации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Методология применима вне зависимости от типа задачи, языка и масштаба. Степень детализации масштабируется; структура инвариантна.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Резюме: семь компонентов SDD-спецификации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280160"/>
          <a:ext cx="117043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931920"/>
                <a:gridCol w="53035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Компонент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Закрываемый вопрос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Последствие отсутствия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1. Назначение и контекст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Где компонент находится в системе?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Несовместимость с архитектурой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2. Интерфейс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Какие типы, имена, структуры?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Несовместимый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3. Предусловия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 что отвечает вызывающий код?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Избыточный или недостаточный защитный код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4. Постусловия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Что гарантирует компонент?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Непредсказуемое поведение в исключительных ситуациях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5. Граничные случаи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Как обрабатываются нестандартные входы?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Производственные ошибки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6. Критерии приёмки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Когда задача завершена?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Невозможность объективной верификации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7. Ограничения реализации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Какие соглашения соблюдать?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Нарушение паттернов системы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SDD-спецификация — технический инструмент, качество которого непосредственно определяет качество результата генерации.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Резюме: пять антипаттернов спецификации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280160"/>
          <a:ext cx="1179576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657600"/>
                <a:gridCol w="5669280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Антипаттерн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Маркеры в тексте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Требуемое действие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Намерение вместо поведения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«корректно», «правильно», «надёжно»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Заменить на конкретное поведение в конкретной ситуации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Относительные характеристики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«быстро», «эффективно», «оптимально»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Добавить числовой критерий с условиями измерения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Имплицитные зависимости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«сохраняет в базе», «записывает в лог»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Указать конкретный механизм и архитектурный паттерн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Неполное покрытие путей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Описан только нормальный путь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Добавить постусловия для всех путей ошибок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Отсутствие контекста системы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Нет ссылок на существующие компоненты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Явно указать используемые модули и соглашения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Чек-лист перед передачей агенту: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□ Нет слов «корректно», «правильно», «быстро» без конкретизации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□ Все пути выполнения имеют постусловия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□ Ограничения ссылаются на существующие компоненты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□ Граничные случаи охватывают все типы из типологии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□ Критерии приёмки сформулированы в виде тест-кейсов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□ Можно написать ≥ 3 теста без дополнительных предположений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Ключевые тезисы лекции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Синтез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86AB"/>
                </a:solidFill>
              </a:defRPr>
            </a:pPr>
            <a:r>
              <a:t>1. Разрыв между намерением и поведением — из-за пробелов в спецификации, а не несовершенства инструмента. Агент буквален там, где человек интерпретирует.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2. Бизнес-требования и технические требования — два уровня. Агент работает с техническими; трансляция — человеческая работа, нельзя делегировать.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3. Методология анализа: проблема (не решение), границы, ограничения, критерии успеха, декомпозиция.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4. SDD-спецификация: 7 компонентов. Отсутствие любого порождает предсказуемую категорию ошибок.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5. Написание спецификации = интеллектуальная работа по прояснению задачи. Невозможность сформулировать 3 тест-кейса — диагностический сигнал.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6. Agile-цикл в AI PDLC: анализ → спецификация → генерация → верификация → ревью → уточнение. Неожиданный результат = пробел в спецификации.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7. SDD масштабируется от функции до архитектуры системы (ADR). Спецификация — первоклассный артефакт проекта, а не черновик.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760720"/>
            <a:ext cx="10881360" cy="50292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i="1">
                <a:solidFill>
                  <a:srgbClr val="1B2A4A"/>
                </a:solidFill>
              </a:defRPr>
            </a:pPr>
            <a:r>
              <a:t>Точность формулировки — фундаментальная инженерная компетенция, сопоставимая по значимости с умением писать код.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