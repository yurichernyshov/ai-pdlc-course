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966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2E86AB"/>
                </a:solidFill>
              </a:defRPr>
            </a:pPr>
            <a:r>
              <a:t>Лекция 1.4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3200" b="1" i="0">
                <a:solidFill>
                  <a:srgbClr val="FFFFFF"/>
                </a:solidFill>
              </a:defRPr>
            </a:pPr>
            <a:r>
              <a:t>Применение AI-агентов для автоматизации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3200" b="1" i="0">
                <a:solidFill>
                  <a:srgbClr val="FFFFFF"/>
                </a:solidFill>
              </a:defRPr>
            </a:pPr>
            <a:r>
              <a:t>рутинных задач в разработке и тестировании ПО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2800" b="1" i="0">
                <a:solidFill>
                  <a:srgbClr val="2E86AB"/>
                </a:solidFill>
              </a:defRPr>
            </a:pPr>
            <a:r>
              <a:t>Методы повышения качества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474720"/>
            <a:ext cx="9966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200"/>
              </a:spcBef>
              <a:spcAft>
                <a:spcPts val="400"/>
              </a:spcAft>
              <a:defRPr sz="1600" b="0" i="0">
                <a:solidFill>
                  <a:srgbClr val="BBCCDD"/>
                </a:solidFill>
              </a:defRPr>
            </a:pPr>
            <a:r>
              <a:t>Дисциплина: «Искусственный интеллект в разработке программного обеспечения»</a:t>
            </a:r>
          </a:p>
          <a:p>
            <a:pPr algn="l">
              <a:spcBef>
                <a:spcPts val="1800"/>
              </a:spcBef>
              <a:spcAft>
                <a:spcPts val="400"/>
              </a:spcAft>
              <a:defRPr sz="1400" b="0" i="0">
                <a:solidFill>
                  <a:srgbClr val="99AABB"/>
                </a:solidFill>
              </a:defRPr>
            </a:pPr>
            <a:r>
              <a:t>Мультиагентные системы • Паттерны оркестрации • Конфликты критериев • Безопасность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Центральный вопрос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Что значит «качество» для мультиагентной системы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E86AB"/>
                </a:solidFill>
              </a:defRPr>
            </a:pPr>
            <a:r>
              <a:t>Когда несколько AI-агентов работают совместно над повышением качества, их выводы могут вступать в прямое противоречие.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Вопрос «кто из агентов прав» не имеет ответа внутри системы агентов: каждый оптимизирует собственный критерий и не располагает информацией о приоритетах проекта.</a:t>
            </a:r>
          </a:p>
          <a:p>
            <a:pPr algn="l">
              <a:spcBef>
                <a:spcPts val="1200"/>
              </a:spcBef>
              <a:spcAft>
                <a:spcPts val="400"/>
              </a:spcAft>
              <a:defRPr sz="1400" b="1" i="0">
                <a:solidFill>
                  <a:srgbClr val="C0392B"/>
                </a:solidFill>
              </a:defRPr>
            </a:pPr>
            <a:r>
              <a:t>Конфликт между агентами — всегда конфликт между критериями, а не между «мнениями».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Разрешить конфликт способен только субъект, задавший критерии изначально — человек, проектирующий систему.</a:t>
            </a:r>
          </a:p>
          <a:p>
            <a:pPr algn="l">
              <a:spcBef>
                <a:spcPts val="1400"/>
              </a:spcBef>
              <a:spcAft>
                <a:spcPts val="400"/>
              </a:spcAft>
              <a:defRPr sz="1400" b="1" i="0">
                <a:solidFill>
                  <a:srgbClr val="222222"/>
                </a:solidFill>
              </a:defRPr>
            </a:pPr>
            <a:r>
              <a:t>Следствие для проектирования: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Главная инженерная задача при построении мультиагентной системы — не подбор агентов, а проектирование иерархии приоритетов и правил разрешения конфликтов. Агенты — механизмы исполнения правил, но не их источник.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669280"/>
            <a:ext cx="10881360" cy="548640"/>
          </a:xfrm>
          <a:prstGeom prst="roundRect">
            <a:avLst/>
          </a:prstGeom>
          <a:solidFill>
            <a:srgbClr val="D6EEF5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2E86AB"/>
                </a:solidFill>
              </a:defRPr>
            </a:pPr>
            <a:r>
              <a:t>Оркестратор + иерархия приоритетов = архитектурный фундамент мультиагентной системы.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Семь измерений качества программного кода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280160"/>
          <a:ext cx="114300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4114800"/>
                <a:gridCol w="521208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Измерение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Содержание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Типовой инструмент оценки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Корректность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Соответствие поведения кода требованиям спецификации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Функциональные тесты, сверка с SDD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Покрытие тестами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Доля поведения кода, проверяемая автоматическими тестами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pytest-cov, coverage.py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Читаемость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Понятность кода разработчику без дополнительного контекста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Экспертная оценка, LLM-анализ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Соответствие стилю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Согласованность с соглашениями команды и проекта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ruff, black, isort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Безопасность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Отсутствие известных классов уязвимостей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bandit, semgrep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Производительность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Отсутствие неоправданной нагрузки на ресурсы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Профилировщики, бенчмарки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Документированность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Наличие описания поведения для потребителей интерфейса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Проверка docstring, pydoc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" y="5669280"/>
            <a:ext cx="10881360" cy="548640"/>
          </a:xfrm>
          <a:prstGeom prst="roundRect">
            <a:avLst/>
          </a:prstGeom>
          <a:solidFill>
            <a:srgbClr val="D6EEF5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2E86AB"/>
                </a:solidFill>
              </a:defRPr>
            </a:pPr>
            <a:r>
              <a:t>Специализированный агент на одно измерение даёт более предсказуемый результат, чем универсальный агент.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Почему одного агента недостаточно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Природа задачи повышения качества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555555"/>
                </a:solidFill>
              </a:defRPr>
            </a:pPr>
            <a:r>
              <a:t>Задача повышения качества структурно гетерогенна: разные измерения требуют разных типов анализа, разных инструментов, разных критериев завершённости.</a:t>
            </a:r>
          </a:p>
          <a:p>
            <a:pPr algn="l">
              <a:spcBef>
                <a:spcPts val="1200"/>
              </a:spcBef>
              <a:spcAft>
                <a:spcPts val="400"/>
              </a:spcAft>
              <a:defRPr sz="1400" b="1" i="0">
                <a:solidFill>
                  <a:srgbClr val="2E86AB"/>
                </a:solidFill>
              </a:defRPr>
            </a:pPr>
            <a:r>
              <a:t>1. Инструментальная несовместимость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bandit/semgrep (безопасность), pytest-cov (покрытие), ruff (стиль) работают со структурой кода по-разному. Объединение всех вызовов в один агент не упрощает архитектуру — усложняет интерпретацию.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1" i="0">
                <a:solidFill>
                  <a:srgbClr val="2E86AB"/>
                </a:solidFill>
              </a:defRPr>
            </a:pPr>
            <a:r>
              <a:t>2. Конкурирующие критерии успеха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Агент, оптимизирующий читаемость И производительность, сталкивается с ситуациями, когда улучшение по одному критерию ухудшает результат по другому. Без явного правила приоритизации — произвольное решение.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1" i="0">
                <a:solidFill>
                  <a:srgbClr val="2E86AB"/>
                </a:solidFill>
              </a:defRPr>
            </a:pPr>
            <a:r>
              <a:t>3. Разные горизонты применения изменений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Агент форматирования применяет изменения немедленно. Агент тестов генерирует код, который должен быть проверен. Агент безопасности может только формировать отчёт. Эти режимы несовместимы в единой инструкции.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300" b="1" i="0">
                <a:solidFill>
                  <a:srgbClr val="222222"/>
                </a:solidFill>
              </a:defRPr>
            </a:pPr>
            <a:r>
              <a:t>Плата за специализацию — усложнение координации. Именно управление взаимодействием агентов составляет основную инженерную проблему.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Компоненты агента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Расширенная модель для мультиагентного контекста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555555"/>
                </a:solidFill>
              </a:defRPr>
            </a:pPr>
            <a:r>
              <a:t>Базовая модель: цель + инструменты + политика остановки. В мультиагентном контексте добавляются ещё два.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300" b="1" i="0">
                <a:solidFill>
                  <a:srgbClr val="2E86AB"/>
                </a:solidFill>
              </a:defRPr>
            </a:pPr>
            <a:r>
              <a:t>1. Цель — формальный критерий завершённости; не должен пересекаться с целями других агентов.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300" b="1" i="0">
                <a:solidFill>
                  <a:srgbClr val="2E86AB"/>
                </a:solidFill>
              </a:defRPr>
            </a:pPr>
            <a:r>
              <a:t>2. Инструменты (tools/skills) — ограниченный набор операций. Узкий набор = предсказуемость.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300" b="1" i="0">
                <a:solidFill>
                  <a:srgbClr val="2E86AB"/>
                </a:solidFill>
              </a:defRPr>
            </a:pPr>
            <a:r>
              <a:t>3. Политика остановки — явный набор условий прекращения работы. Без неё агент продолжает работать при недостижимом критерии.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300" b="1" i="0">
                <a:solidFill>
                  <a:srgbClr val="2E86AB"/>
                </a:solidFill>
              </a:defRPr>
            </a:pPr>
            <a:r>
              <a:t>4. Контекст — информация о состоянии системы: кодовая база, SDD, результаты предыдущих агентов. Без явного проектирования контекста агенты изолированы.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300" b="1" i="0">
                <a:solidFill>
                  <a:srgbClr val="2E86AB"/>
                </a:solidFill>
              </a:defRPr>
            </a:pPr>
            <a:r>
              <a:t>5. Интерфейс взаимодействия — формат получения задачи и передачи результата. Несовместимые форматы — одна из наиболее частых причин сбоев.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Архитектура мультиагентной системы повышения качества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11247120" cy="48463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┌──────────────────────────────────────────────────────┐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│      Мультиагентная система повышения качества       │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│                                                      │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│  ┌──────────────┐                                    │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│  │ ОРКЕСТРАТОР  │ — порядок, агрегация, остановка    │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│  └──────┬───────┘                                    │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│         │                                            │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│    ┌────┴──────────────────────────┐                 │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│    ▼        ▼          ▼           ▼                 │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│ ┌──────┐ ┌──────┐ ┌────────┐ ┌──────────┐          │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│ │Агент │ │Агент │ │ Агент  │ │  Агент   │          │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│ │тестов│ │стиля │ │докум-и │ │безопас-  │          │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│ └──┬───┘ └──┬───┘ └───┬────┘ └────┬─────┘          │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│    ▼        ▼         ▼          ▼                  │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│  pytest   ruff    docstring   bandit/               │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│  coverage black   checker     semgrep               │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│                                                      │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│      ┌──────────────────────────────────┐           │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│      │        ОБЩИЙ КОНТЕКСТ            │           │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│      │  (кодовая база, SDD, результаты  │           │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│      │   предыдущих агентов)            │           │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│      └──────────────────────────────────┘           │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222222"/>
                </a:solidFill>
                <a:latin typeface="Courier New"/>
              </a:defRPr>
            </a:pPr>
            <a:r>
              <a:t>└──────────────────────────────────────────────────────┘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669280"/>
            <a:ext cx="10881360" cy="548640"/>
          </a:xfrm>
          <a:prstGeom prst="roundRect">
            <a:avLst/>
          </a:prstGeom>
          <a:solidFill>
            <a:srgbClr val="D6EEF5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2E86AB"/>
                </a:solidFill>
              </a:defRPr>
            </a:pPr>
            <a:r>
              <a:t>Оркестратор реализует иерархию приоритетов. Общий контекст — разделяемое состояние для согласованной работы.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Паттерн оркестрации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Последовательный конвейер (Pipeline)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E86AB"/>
                </a:solidFill>
              </a:defRPr>
            </a:pPr>
            <a:r>
              <a:t>Агенты выполняются строго один за другим; каждый получает результат предыдущего.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300" b="1" i="0">
                <a:solidFill>
                  <a:srgbClr val="222222"/>
                </a:solidFill>
              </a:defRPr>
            </a:pPr>
            <a:r>
              <a:t>Код → [Агент тестов] → [Агент стиля] → [Агент документации] → Результат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200" b="0" i="0">
                <a:solidFill>
                  <a:srgbClr val="27AE60"/>
                </a:solidFill>
              </a:defRPr>
            </a:pPr>
            <a:r>
              <a:t>✔ Максимальная предсказуемость: порядок изменений детерминирован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7AE60"/>
                </a:solidFill>
              </a:defRPr>
            </a:pPr>
            <a:r>
              <a:t>✔ Простота локализации ошибок: сбой указывает на конкретный агент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7AE60"/>
                </a:solidFill>
              </a:defRPr>
            </a:pPr>
            <a:r>
              <a:t>✔ Каждый следующий агент видит результат всех предыдущих изменений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200" b="0" i="0">
                <a:solidFill>
                  <a:srgbClr val="C0392B"/>
                </a:solidFill>
              </a:defRPr>
            </a:pPr>
            <a:r>
              <a:t>✘ Последовательное выполнение медленнее параллельных подходов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C0392B"/>
                </a:solidFill>
              </a:defRPr>
            </a:pPr>
            <a:r>
              <a:t>✘ Изменение раннего агента может нарушить результаты позднего: агент тестов написал тест с именем, которое агент стиля переименовал → несогласованность внутри конвейера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300" b="1" i="0">
                <a:solidFill>
                  <a:srgbClr val="222222"/>
                </a:solidFill>
              </a:defRPr>
            </a:pPr>
            <a:r>
              <a:t>Когда применять: порядок изменений важен; каждый следующий агент должен видеть консолидированный результат; приоритет — воспроизводимость над скоростью.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Паттерн оркестрации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Параллельное выполнение с агрегацией (Fan-out / Fan-in)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6400800" cy="20116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     ┌─→ [Агент тестов]       ─┐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     ├─→ [Агент стиля]        ─┤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Код ─┤                         ├──→ [Оркестратор] → Результат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     ├─→ [Агент документации] ─┤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     └─→ [Агент безопасности] 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474720"/>
            <a:ext cx="10881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E86AB"/>
                </a:solidFill>
              </a:defRPr>
            </a:pPr>
            <a:r>
              <a:t>Все агенты запускаются параллельно на одной версии кода; оркестратор собирает и агрегирует результаты.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200" b="0" i="0">
                <a:solidFill>
                  <a:srgbClr val="27AE60"/>
                </a:solidFill>
              </a:defRPr>
            </a:pPr>
            <a:r>
              <a:t>✔ Скорость при наличии параллельных ресурсов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7AE60"/>
                </a:solidFill>
              </a:defRPr>
            </a:pPr>
            <a:r>
              <a:t>✔ Агенты не влияют на входные данные друг друга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200" b="1" i="0">
                <a:solidFill>
                  <a:srgbClr val="C0392B"/>
                </a:solidFill>
              </a:defRPr>
            </a:pPr>
            <a:r>
              <a:t>✘ Ключевой риск — конфликты при агрегации: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Агент стиля переименовал функцию; агент тестов написал тест со старым именем. Оба правы. Оркестратор обязан иметь явное правило разрешения.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300" b="1" i="0">
                <a:solidFill>
                  <a:srgbClr val="222222"/>
                </a:solidFill>
              </a:defRPr>
            </a:pPr>
            <a:r>
              <a:t>Когда применять: измерения независимы; агенты работают в режиме read-only (не создают конфликтов); скорость критична.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Паттерн оркестрации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Итеративный цикл с критерием сходимости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6400800" cy="2286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      ┌──────────────────────────────────┐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      ▼                                  │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Код → [Агент улучшения] → [Агент проверки] → [Оркестратор]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                                              │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                                     Критерий достигнут?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                                     ДА → Результат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                                     НЕТ → следующая итерация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840480"/>
            <a:ext cx="108813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E86AB"/>
                </a:solidFill>
              </a:defRPr>
            </a:pPr>
            <a:r>
              <a:t>Агенты работают в повторяющемся цикле; оркестратор оценивает метрику после каждой итерации.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200" b="0" i="0">
                <a:solidFill>
                  <a:srgbClr val="27AE60"/>
                </a:solidFill>
              </a:defRPr>
            </a:pPr>
            <a:r>
              <a:t>✔ Наибольшая гибкость; способность постепенно приближаться к цели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200" b="1" i="0">
                <a:solidFill>
                  <a:srgbClr val="C0392B"/>
                </a:solidFill>
              </a:defRPr>
            </a:pPr>
            <a:r>
              <a:t>✘ Наибольший риск бесконечного выполнения из всех трёх паттернов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C0392B"/>
                </a:solidFill>
              </a:defRPr>
            </a:pPr>
            <a:r>
              <a:t>✘ Наибольшая стоимость по токенам и сложность отладки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300" b="1" i="0">
                <a:solidFill>
                  <a:srgbClr val="C0392B"/>
                </a:solidFill>
              </a:defRPr>
            </a:pPr>
            <a:r>
              <a:t>Жёсткое ограничение числа итераций — ОБЯЗАТЕЛЬНЫЙ, а не опциональный элемент!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300" b="1" i="0">
                <a:solidFill>
                  <a:srgbClr val="222222"/>
                </a:solidFill>
              </a:defRPr>
            </a:pPr>
            <a:r>
              <a:t>Когда применять: задача требует итеративного улучшения; исключительно при явном ограничении итераций + ограничении по стоимости.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Сравнительный анализ паттернов оркестрации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82880" y="1234440"/>
          <a:ext cx="117957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2926080"/>
                <a:gridCol w="384048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Характеристика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Последовательный конвейер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Параллельное выполнение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Итеративный цикл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Скорость выполнения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Низкая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Высокая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Зависит от числа итераций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Предсказуемость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Высокая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Средняя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Низкая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Риск бесконечного выполнения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Низкий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Низкий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ВЫСОКИЙ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Сложность отладки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Низкая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Средняя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Высокая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Стоимость по токенам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Средняя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Средняя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ВЫСОКАЯ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Риск конфликтов агентов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Управляемый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ВЫСОКИЙ при агрегации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Управляемый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Видимость результатов других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Полная (последовательно)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Отсутствует в процессе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Частичная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Обязательное условие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Явный порядок агентов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Правила агрегации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2222"/>
                          </a:solidFill>
                        </a:defRPr>
                      </a:pPr>
                      <a:r>
                        <a:t>Ограничение итераций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" y="5669280"/>
            <a:ext cx="10881360" cy="548640"/>
          </a:xfrm>
          <a:prstGeom prst="roundRect">
            <a:avLst/>
          </a:prstGeom>
          <a:solidFill>
            <a:srgbClr val="D6EEF5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2E86AB"/>
                </a:solidFill>
              </a:defRPr>
            </a:pPr>
            <a:r>
              <a:t>Паттерны не взаимоисключающие — реальные системы комбинируют их. Критерий выбора: природа задачи и допустимая непредсказуемость.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Конфликты критериев качества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Типология и механизм возникновения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555555"/>
                </a:solidFill>
              </a:defRPr>
            </a:pPr>
            <a:r>
              <a:t>Конфликты между агентами — не ошибки проектирования, а объективное противоречие между измерениями качества.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1" i="0">
                <a:solidFill>
                  <a:srgbClr val="2E86AB"/>
                </a:solidFill>
              </a:defRPr>
            </a:pPr>
            <a:r>
              <a:t>Конфликт 1: Читаемость vs Производительность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Агент читаемости предлагает заменить вложенный цикл на библиотечную функцию. Агент производительности фиксирует, что она на 15% медленнее на больших данных. Ни один агент не знает, критична ли производительность для данного модуля.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1" i="0">
                <a:solidFill>
                  <a:srgbClr val="2E86AB"/>
                </a:solidFill>
              </a:defRPr>
            </a:pPr>
            <a:r>
              <a:t>Конфликт 2: Тестируемость vs Безопасность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Агент тестов хардкодит тестовые учётные данные для воспроизводимости. Агент безопасности классифицирует это как CWE-798 (Hard-coded Credentials). Оба действуют корректно в рамках своих критериев.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1" i="0">
                <a:solidFill>
                  <a:srgbClr val="2E86AB"/>
                </a:solidFill>
              </a:defRPr>
            </a:pPr>
            <a:r>
              <a:t>Конфликт 3: Документирование vs Корректность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Агент документации генерирует docstring на основании фактического поведения кода. Если код отклоняется от SDD — документация фиксирует некорректное поведение как нормативное.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300" b="1" i="0">
                <a:solidFill>
                  <a:srgbClr val="C0392B"/>
                </a:solidFill>
              </a:defRPr>
            </a:pPr>
            <a:r>
              <a:t>Системный вывод: ни один из конфликтов не разрешается внутри системы агентов. Разрешение требует иерархии приоритетов проекта.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Проектирование целей агентов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Принцип одной измеримой цели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280160"/>
          <a:ext cx="114300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474720"/>
                <a:gridCol w="612648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Область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Некорректная формулировка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Корректная формулировка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Тестирование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«Улучшить тестовое покрытие»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«Покрытие строк кода модуля ≥ 80%, измеренное pytest-cov»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Безопасность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«Проверить безопасность кода»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«bandit с уровнями HIGH/MEDIUM; предупреждений уровня HIGH — 0»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Стиль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«Улучшить читаемость»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«Привести к PEP 8; ruff check — 0 нарушений»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Документация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«Задокументировать функции»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«Каждая публичная функция: docstring с параметрами, return, исключениями»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3931920"/>
            <a:ext cx="10881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C0392B"/>
                </a:solidFill>
              </a:defRPr>
            </a:pPr>
            <a:r>
              <a:t>Размытая цель — наиболее частая причина непредсказуемого поведения агента.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Агент с целью «улучшить качество кода» не имеет критерия завершённости: останавливается произвольно или продолжает бесконечно. Результат непредсказуем и невоспроизводим.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300" b="1" i="0">
                <a:solidFill>
                  <a:srgbClr val="2E86AB"/>
                </a:solidFill>
              </a:defRPr>
            </a:pPr>
            <a:r>
              <a:t>Принцип: вопрос «задача выполнена или нет?» должен иметь однозначный ответ без субъективного суждения.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Проектирование иерархии приоритетов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280160"/>
          <a:ext cx="11430000" cy="37124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3657600"/>
                <a:gridCol w="6309360"/>
              </a:tblGrid>
              <a:tr h="530351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Приоритет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Измерение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Обоснование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53035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1 (высший)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Корректность — соответствие SDD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Несоответствие спецификации обесценивает все остальные улучшения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3035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Безопасность — уязвимости 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Критические уязвимости не принимаются к развёртыванию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035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Тестируемость — покрытие ≥ 80%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Непроверяемый код не может быть верифицирован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3035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Соответствие стилю — PEP 8 / ruff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Согласованность важна, но не блокирует функциональность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035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Документированность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Необходима для сопровождаемости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3035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6 (низший)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Производительность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Оптимизируется только при явном требовании в SDD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" y="5669280"/>
            <a:ext cx="10881360" cy="548640"/>
          </a:xfrm>
          <a:prstGeom prst="roundRect">
            <a:avLst/>
          </a:prstGeom>
          <a:solidFill>
            <a:srgbClr val="D6EEF5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2E86AB"/>
                </a:solidFill>
              </a:defRPr>
            </a:pPr>
            <a:r>
              <a:t>Иерархия — архитектурное решение, документируемое до запуска. Отсутствие явной иерархии = произвольные приоритеты агентов.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Инструменты агентов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Принцип минимально необходимого доступа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280160"/>
          <a:ext cx="116128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200400"/>
                <a:gridCol w="3200400"/>
                <a:gridCol w="292608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Агент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Инструменты (чтение)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Запись / выполнение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Ограничение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Агент тестов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Чтение кода, запуск pytest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Запись файлов тестов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Не модифицирует исходный код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Агент стиля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Чтение кода, запуск ruff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Модификация кода (формат)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Не добавляет логику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Агент документации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Чтение кода и SDD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Запись / обновление docstring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Не изменяет реализацию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Агент безопасности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Чтение кода, запуск bandit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ТОЛЬКО формирование отчёта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Не модифицирует код никогда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Оркестратор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Все результаты агентов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Управляющие команды агентам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Не пишет код напрямую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5669280"/>
            <a:ext cx="10881360" cy="548640"/>
          </a:xfrm>
          <a:prstGeom prst="roundRect">
            <a:avLst/>
          </a:prstGeom>
          <a:solidFill>
            <a:srgbClr val="D6EEF5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2E86AB"/>
                </a:solidFill>
              </a:defRPr>
            </a:pPr>
            <a:r>
              <a:t>Агент безопасности намеренно read-only: автоисправление уязвимостей без ревью — опасный архитектурный паттерн.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Политика остановки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Определение и типология условий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280160"/>
          <a:ext cx="11612880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572000"/>
                <a:gridCol w="4754880"/>
              </a:tblGrid>
              <a:tr h="548639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Тип условия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Формулировка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Действие при срабатывании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Условие успеха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Все целевые критерии качества достигнуты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Передать результат, завершить работу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Ограничение итераций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Выполнено N итераций (без достижения цели)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Передать человеку с отчётом о незакрытых проблемах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Ограничение по ресурсам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Превышен лимит токенов или времени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Передать лучший результат с предупреждением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Обнаружение тупика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Метрика не улучшилась за последние K итераций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Эскалировать с объяснением причины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Условие ошибки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Инструмент вернул непредусмотренный тип ошибки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Немедленная остановка, сохранение состояния, эскалация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5669280"/>
            <a:ext cx="10881360" cy="548640"/>
          </a:xfrm>
          <a:prstGeom prst="roundRect">
            <a:avLst/>
          </a:prstGeom>
          <a:solidFill>
            <a:srgbClr val="D6EEF5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2E86AB"/>
                </a:solidFill>
              </a:defRPr>
            </a:pPr>
            <a:r>
              <a:t>Отсутствие условия ограничения итераций при итеративном паттерне — наиболее затратная ошибка проектирования.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Обработка ошибок в агентных системах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Три стратегии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555555"/>
                </a:solidFill>
              </a:defRPr>
            </a:pPr>
            <a:r>
              <a:t>В детерминированном коде ошибка → прерывание. В агентной системе ошибка шага → информация для решения о следующем действии.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1" i="0">
                <a:solidFill>
                  <a:srgbClr val="2E86AB"/>
                </a:solidFill>
              </a:defRPr>
            </a:pPr>
            <a:r>
              <a:t>Стратегия 1: Повтор с модификацией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Агент анализирует ошибку, интерпретирует причину, повторяет попытку с изменённым подходом. Пример: тест упал из-за синтаксической ошибки → анализ трейсбека → корректировка генерации. Требует ограничения числа повторов.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1" i="0">
                <a:solidFill>
                  <a:srgbClr val="2E86AB"/>
                </a:solidFill>
              </a:defRPr>
            </a:pPr>
            <a:r>
              <a:t>Стратегия 2: Пропуск с фиксацией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Агент фиксирует невозможность выполнить задачу для компонента и переходит к следующему. Для неблокирующих ошибок; частичный результат лучше отсутствия.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1" i="0">
                <a:solidFill>
                  <a:srgbClr val="2E86AB"/>
                </a:solidFill>
              </a:defRPr>
            </a:pPr>
            <a:r>
              <a:t>Стратегия 3: Немедленная эскалация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Агент прекращает работу и передаёт управление оркестратору или человеку. Для ошибок, которые агент не способен интерпретировать, или ошибок с риском ущерба.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669280"/>
            <a:ext cx="10881360" cy="548640"/>
          </a:xfrm>
          <a:prstGeom prst="roundRect">
            <a:avLst/>
          </a:prstGeom>
          <a:solidFill>
            <a:srgbClr val="D6EEF5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2E86AB"/>
                </a:solidFill>
              </a:defRPr>
            </a:pPr>
            <a:r>
              <a:t>Проектирование стратегии обработки каждого типа ошибки — часть проектирования агента, а не задача отладки постфактум.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Кейс: конфликт агентов в реальном сценарии разработки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555555"/>
                </a:solidFill>
              </a:defRPr>
            </a:pPr>
            <a:r>
              <a:t>Исходное состояние: Функция calculate_discount() написана агентом-разработчиком по SDD. Три агента качества запущены параллельно.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400" b="1" i="0">
                <a:solidFill>
                  <a:srgbClr val="2E86AB"/>
                </a:solidFill>
              </a:defRPr>
            </a:pPr>
            <a:r>
              <a:t>Агент тестов: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Генерирует 12 тест-кейсов, покрытие 94%. Использует TEST_DB_URL = "postgresql://admin:password@localhost/testdb" для воспроизводимости.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400" b="1" i="0">
                <a:solidFill>
                  <a:srgbClr val="2E86AB"/>
                </a:solidFill>
              </a:defRPr>
            </a:pPr>
            <a:r>
              <a:t>Агент безопасности: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Обнаруживает хардкоженные учётные данные → CWE-798, уровень HIGH.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400" b="1" i="0">
                <a:solidFill>
                  <a:srgbClr val="2E86AB"/>
                </a:solidFill>
              </a:defRPr>
            </a:pPr>
            <a:r>
              <a:t>Агент стиля: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Переименовывает calculate_discount() → calc_discount() согласно ruff. Тесты агента тестов теперь ссылаются на несуществующее имя.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1" i="0">
                <a:solidFill>
                  <a:srgbClr val="27AE60"/>
                </a:solidFill>
              </a:defRPr>
            </a:pPr>
            <a:r>
              <a:t>Действие оркестратора (при явной иерархии):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(1) Зафиксировать нарушение безопасности как блокирующее → эскалация. (2) Откатить переименование. (3) Сформировать отчёт о трёх несовместимых изменениях для ревью.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300" b="1" i="0">
                <a:solidFill>
                  <a:srgbClr val="C0392B"/>
                </a:solidFill>
              </a:defRPr>
            </a:pPr>
            <a:r>
              <a:t>Вывод: все три агента действовали корректно. Конфликт порождён отсутствием координации при агрегации.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Детерминированные инструменты как фундамент качества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280160"/>
          <a:ext cx="114300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286000"/>
                <a:gridCol w="4114800"/>
                <a:gridCol w="1645920"/>
                <a:gridCol w="173736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Инструмент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Категория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Что проверяет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Детерминирован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Галлюцинирует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ruff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Линтер / форматтер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Стиль, синтаксис, простые антипаттерны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Да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Нет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mypy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Статический анализатор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Типовая корректность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Да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Нет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bandit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Анализатор безопасности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Известные классы уязвимостей Python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Да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Нет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pytest-cov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Измеритель покрытия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Доля кода, выполненная тестами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Да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Нет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LLM (агент)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Семантический анализатор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Смысловое соответствие, именование, граничные случаи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Нет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Возможно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429768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E86AB"/>
                </a:solidFill>
              </a:defRPr>
            </a:pPr>
            <a:r>
              <a:t>Принцип: детерминированные инструменты — первый барьер, применяются ДО агентов.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Агент оправдывает стоимость только там, где детерминированный инструмент недостаточен: оценка семантической ясности, генерация тест-кейсов для граничных условий из спецификации, именование в контексте доменной терминологии.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300" b="1" i="0">
                <a:solidFill>
                  <a:srgbClr val="222222"/>
                </a:solidFill>
              </a:defRPr>
            </a:pPr>
            <a:r>
              <a:t>Детерминированный инструмент не галлюцинирует, не интерпретирует, не принимает ситуативных решений. Один код → один результат проверки.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Покрытие тестами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Метрика необходимая, но не достаточная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E86AB"/>
                </a:solidFill>
              </a:defRPr>
            </a:pPr>
            <a:r>
              <a:t>Test coverage измеряет долю строк/ветвей, выполненных при тестировании. Но НЕ корректность проверок.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Фундаментальное ограничение: покрытие фиксирует, что строка выполнена хотя бы раз, — не что её поведение проверено содержательно.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1" i="0">
                <a:solidFill>
                  <a:srgbClr val="C0392B"/>
                </a:solidFill>
              </a:defRPr>
            </a:pPr>
            <a:r>
              <a:t>Антипаттерн агентно-генерируемых тестов: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Агент с целью «покрытие ≥ 80%» без дополнительных ограничений может достичь метрики: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• assert calculate_discount(0, 0) is not None — строка выполнена, корректность не проверена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• Тесты только для простых случаев, обходящие граничные условия спецификации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• assert True как заглушка для непокрытых ветвей</a:t>
            </a:r>
          </a:p>
          <a:p>
            <a:pPr algn="l">
              <a:spcBef>
                <a:spcPts val="1200"/>
              </a:spcBef>
              <a:spcAft>
                <a:spcPts val="400"/>
              </a:spcAft>
              <a:defRPr sz="1400" b="1" i="0">
                <a:solidFill>
                  <a:srgbClr val="27AE60"/>
                </a:solidFill>
              </a:defRPr>
            </a:pPr>
            <a:r>
              <a:t>Корректная цель агента тестов — два условия совместно: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1. Покрытие строк/ветвей ≥ порога (измеримо инструментально)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2. Наличие тест-кейсов для каждого сценария из SDD-спецификации (проверяется сверкой)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Ресурсная стоимость мультиагентных систем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Источники и порядок величин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881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555555"/>
                </a:solidFill>
              </a:defRPr>
            </a:pPr>
            <a:r>
              <a:t>Ресурсная стоимость — совокупность затрат токенов, времени и средств. Это реальная инженерная метрика; соразмерность результату должна быть обоснована.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200" b="0" i="0">
                <a:solidFill>
                  <a:srgbClr val="222222"/>
                </a:solidFill>
              </a:defRPr>
            </a:pPr>
            <a:r>
              <a:t>Источники: токены на контекст (растёт с размером кодовой базы и числом агентов), токены на инструментальные вызовы, время выполнения (агент vs прямой вызов: разница 1–2 порядка).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3474720"/>
          <a:ext cx="1143000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5029200"/>
                <a:gridCol w="365760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Стратегия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Механизм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Эффект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Минимальный контекст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Агент получает только релевантный фрагмент кода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Снижение стоимости контекста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Детерминированные инструменты первыми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LLM вызывается только для задач, требующих языкового понимания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Устранение избыточных LLM-вызовов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Кэширование результатов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Результат агента для неизменённого файла переиспользуется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Устранение повторных запусков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Запуск при изменении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Агенты запускаются только для изменившихся компонентов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Снижение числа запусков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0080" y="5669280"/>
            <a:ext cx="10881360" cy="548640"/>
          </a:xfrm>
          <a:prstGeom prst="roundRect">
            <a:avLst/>
          </a:prstGeom>
          <a:solidFill>
            <a:srgbClr val="D6EEF5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2E86AB"/>
                </a:solidFill>
              </a:defRPr>
            </a:pPr>
            <a:r>
              <a:t>Неспособность оценить ресурсную стоимость агентного пайплайна = неспособность оценить сложность алгоритма.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Метафора координации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Бригада без прораба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E86AB"/>
                </a:solidFill>
              </a:defRPr>
            </a:pPr>
            <a:r>
              <a:t>Ситуация: маляр, электрик и сантехник работают на объекте. Каждый видит только свою область.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Маляр: стены требуют покраски. Электрик: проводка устарела. Сантехник: трубы дают микротечи. Все трое правы. Бюджет — на две работы из трёх.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Проблема: без прораба (субъекта с общим планом, приоритетами и бюджетом) каждый будет отстаивать свою задачу — не из-за ошибки в суждениях, а потому что в его специализации она наиважнейшая.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4389120"/>
          <a:ext cx="109728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6400800"/>
              </a:tblGrid>
              <a:tr h="38404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Аналогия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Компонент системы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Специалист (маляр, электрик, сантехник)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Специализированный агент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Область специализации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Цель и инструменты агента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Прораб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Оркестратор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Общий план и бюджет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Иерархия приоритетов и правила разрешения конфликтов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Решение «что именно делать»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</a:defRPr>
                      </a:pPr>
                      <a:r>
                        <a:t>Архитектурное решение проектировщика системы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0080" y="5669280"/>
            <a:ext cx="10881360" cy="548640"/>
          </a:xfrm>
          <a:prstGeom prst="roundRect">
            <a:avLst/>
          </a:prstGeom>
          <a:solidFill>
            <a:srgbClr val="D6EEF5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2E86AB"/>
                </a:solidFill>
              </a:defRPr>
            </a:pPr>
            <a:r>
              <a:t>Оркестратор исполняет правила проектировщика. Недостающее правило = пробел в архитектуре, а не сбой агентов.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Двухуровневая архитектура системы качества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Уровень 0: детерминированные инструменты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6400800" cy="20116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# Выполняется как pre-commit хук или CI-шаг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ruff check src/          # линтинг: стиль, антипаттерны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ruff format src/         # форматирование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mypy src/                # статическая проверка типов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pytest --cov=src tests/  # выполнение тестов + покрытие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222222"/>
                </a:solidFill>
                <a:latin typeface="Courier New"/>
              </a:defRPr>
            </a:pPr>
            <a:r>
              <a:t>bandit -r src/           # анализ безопасности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66160"/>
            <a:ext cx="10881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E86AB"/>
                </a:solidFill>
              </a:defRPr>
            </a:pPr>
            <a:r>
              <a:t>Уровень 0 выполняется всегда, при каждом коммите, без участия агентов.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300" b="1" i="0">
                <a:solidFill>
                  <a:srgbClr val="222222"/>
                </a:solidFill>
              </a:defRPr>
            </a:pPr>
            <a:r>
              <a:t>Функции уровня 0: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• Формирует базовое состояние кодовой базы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• Обнаруживает проблемы, не требующие языкового понимания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• Результаты — входные данные для агентов уровня 1 (агенты запускаются при наличии проблем, а не превентивно)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300" b="1" i="0">
                <a:solidFill>
                  <a:srgbClr val="222222"/>
                </a:solidFill>
              </a:defRPr>
            </a:pPr>
            <a:r>
              <a:t>Свойство уровня 0: детерминированный инструмент не галлюцинирует, не интерпретирует, не принимает ситуативных решений. Один код → один результат. Это единственный компонент, результатам которого можно доверять без дополнительной верификации.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Двухуровневая архитектура: уровень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Специализированные агенты и оркестратор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2E86AB"/>
                </a:solidFill>
              </a:defRPr>
            </a:pPr>
            <a:r>
              <a:t>Логика запуска агентов: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100" b="0" i="0">
                <a:solidFill>
                  <a:srgbClr val="222222"/>
                </a:solidFill>
              </a:defRPr>
            </a:pPr>
            <a:r>
              <a:t>Агент тестов: coverage &lt; 80% → получает список функций с недостаточным покрытием + SDD → генерирует тест-кейсы.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100" b="0" i="0">
                <a:solidFill>
                  <a:srgbClr val="222222"/>
                </a:solidFill>
              </a:defRPr>
            </a:pPr>
            <a:r>
              <a:t>Агент документации: публичные функции без docstring → сверяет с SDD → записывает docstring.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34440"/>
            <a:ext cx="5303520" cy="34747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>
                <a:solidFill>
                  <a:srgbClr val="222222"/>
                </a:solidFill>
                <a:latin typeface="Courier New"/>
              </a:defRPr>
            </a:pPr>
            <a:r>
              <a:t>Оркестратор (минимальная конфигурация):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222222"/>
                </a:solidFill>
                <a:latin typeface="Courier New"/>
              </a:defRPr>
            </a:pPr>
            <a:r>
              <a:t>Порядок: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222222"/>
                </a:solidFill>
                <a:latin typeface="Courier New"/>
              </a:defRPr>
            </a:pPr>
            <a:r>
              <a:t>1. Запуск инструментов уровня 0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222222"/>
                </a:solidFill>
                <a:latin typeface="Courier New"/>
              </a:defRPr>
            </a:pPr>
            <a:r>
              <a:t>2. Если coverage &lt; 80% → агент тестов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222222"/>
                </a:solidFill>
                <a:latin typeface="Courier New"/>
              </a:defRPr>
            </a:pPr>
            <a:r>
              <a:t>3. Если функции без docstring → агент док.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222222"/>
                </a:solidFill>
                <a:latin typeface="Courier New"/>
              </a:defRPr>
            </a:pPr>
            <a:r>
              <a:t>4. Повторный запуск уровня 0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222222"/>
                </a:solidFill>
                <a:latin typeface="Courier New"/>
              </a:defRPr>
            </a:pPr>
            <a:r>
              <a:t>5. Формирование итогового отчёта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222222"/>
                </a:solidFill>
                <a:latin typeface="Courier New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222222"/>
                </a:solidFill>
                <a:latin typeface="Courier New"/>
              </a:defRPr>
            </a:pPr>
            <a:r>
              <a:t>Политика остановки: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222222"/>
                </a:solidFill>
                <a:latin typeface="Courier New"/>
              </a:defRPr>
            </a:pPr>
            <a:r>
              <a:t>- СТОП: все критерии достигнуты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222222"/>
                </a:solidFill>
                <a:latin typeface="Courier New"/>
              </a:defRPr>
            </a:pPr>
            <a:r>
              <a:t>- СТОП: 3 итерации исчерпаны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222222"/>
                </a:solidFill>
                <a:latin typeface="Courier New"/>
              </a:defRPr>
            </a:pPr>
            <a:r>
              <a:t>- СТОП: превышен лимит токенов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>
                <a:solidFill>
                  <a:srgbClr val="222222"/>
                </a:solidFill>
                <a:latin typeface="Courier New"/>
              </a:defRPr>
            </a:pPr>
            <a:r>
              <a:t>- СТОП: необработанная ошибка агента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84048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  <a:spcAft>
                <a:spcPts val="400"/>
              </a:spcAft>
              <a:defRPr sz="1100" b="0" i="0">
                <a:solidFill>
                  <a:srgbClr val="222222"/>
                </a:solidFill>
              </a:defRPr>
            </a:pPr>
            <a:r>
              <a:t>Отчёт включает: статус каждого критерия, число итераций и причину остановки, затраченные токены и время, список незакрытых проблем для человека.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Кейс: итеративное улучшение покрытия тестами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Агентный пайплайн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555555"/>
                </a:solidFill>
              </a:defRPr>
            </a:pPr>
            <a:r>
              <a:t>Исходное: billing.py — 7 функций, покрытие 54%, порог 80%, лимит 3 итерации.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400" b="1" i="0">
                <a:solidFill>
                  <a:srgbClr val="2E86AB"/>
                </a:solidFill>
              </a:defRPr>
            </a:pPr>
            <a:r>
              <a:t>Итерация 1: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Агент получает отчёт покрытия + SDD. Идентифицирует 3 функции с нулевым покрытием. Генерирует 9 тест-кейсов по сценариям SDD. 8 прошли, 1 упал (apply_promo_code с истёкшим промокодом). Покрытие: 71%. Критерий не достигнут.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400" b="1" i="0">
                <a:solidFill>
                  <a:srgbClr val="2E86AB"/>
                </a:solidFill>
              </a:defRPr>
            </a:pPr>
            <a:r>
              <a:t>Итерация 2: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Анализ упавшего теста: функция бросает PromoExpiredError, тест ожидал ValueError. Корректировка теста + 3 тест-кейса для непокрытых ветвей calculate_tax(). Покрытие: 83%.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400" b="1" i="0">
                <a:solidFill>
                  <a:srgbClr val="27AE60"/>
                </a:solidFill>
              </a:defRPr>
            </a:pPr>
            <a:r>
              <a:t>Действие оркестратора: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Критерий ≥ 80% достигнут на итерации 2. Следующая итерация не запускается. Детерминированные инструменты — повторно для верификации. Отчёт: 2 итерации, 12 тест-кейсов, покрытие 83%.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200" b="1" i="0">
                <a:solidFill>
                  <a:srgbClr val="222222"/>
                </a:solidFill>
              </a:defRPr>
            </a:pPr>
            <a:r>
              <a:t>Свойства пайплайна: явный критерий успеха → остановка по цели; ограничение итераций → защита от бесконечного цикла; обработка ошибки по стратегии «повтор с модификацией».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Кейс: обнаружение тупика и эскалация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555555"/>
                </a:solidFill>
              </a:defRPr>
            </a:pPr>
            <a:r>
              <a:t>Исходное: legacy_parser.py — монолитная функция 400 строк, вложенность 8 уровней. Покрытие: 38%. Лимит 3 итерации.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300" b="0" i="0">
                <a:solidFill>
                  <a:srgbClr val="222222"/>
                </a:solidFill>
              </a:defRPr>
            </a:pPr>
            <a:r>
              <a:t>Итерация 1: 15 тест-кейсов для поверхностных ветвей → покрытие 52%.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Итерация 2: Дополнительные тест-кейсы для вложенных ветвей. Конфликт: тест-кейсы тестируют взаимозависимые состояния без возможности изоляции. Часть тестов не воспроизводима. Покрытие: 54%.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Итерация 3: Аналогично. Покрытие: 55%. Прирост: 1% (предыдущая: 2%).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400" b="1" i="0">
                <a:solidFill>
                  <a:srgbClr val="C0392B"/>
                </a:solidFill>
              </a:defRPr>
            </a:pPr>
            <a:r>
              <a:t>Срабатывание условия тупика: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Метрика не улучшается значимо за последние 2 итерации. Лимит 3 итерации исчерпан.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400" b="1" i="0">
                <a:solidFill>
                  <a:srgbClr val="27AE60"/>
                </a:solidFill>
              </a:defRPr>
            </a:pPr>
            <a:r>
              <a:t>Действие оркестратора: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«Целевое покрытие 80% недостижимо для legacy_parser.py без рефакторинга. Причина: отсутствие разделения ответственности. Рекомендация: ручной рефакторинг перед повторным запуском. Затрачено: 3 итерации, X токенов.»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669280"/>
            <a:ext cx="10881360" cy="548640"/>
          </a:xfrm>
          <a:prstGeom prst="roundRect">
            <a:avLst/>
          </a:prstGeom>
          <a:solidFill>
            <a:srgbClr val="D6EEF5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2E86AB"/>
                </a:solidFill>
              </a:defRPr>
            </a:pPr>
            <a:r>
              <a:t>Агент идентифицировал предел возможностей и передал управление человеку с содержательной диагностикой.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Автономность как вектор атаки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Переход к вопросам безопасности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555555"/>
                </a:solidFill>
              </a:defRPr>
            </a:pPr>
            <a:r>
              <a:t>Агентная система повышения качества: оркестратор управляет автономно; агент тестов записывает файлы; агент стиля модифицирует код; агент запускает pytest (выполняет код репозитория).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1" i="0">
                <a:solidFill>
                  <a:srgbClr val="C0392B"/>
                </a:solidFill>
              </a:defRPr>
            </a:pPr>
            <a:r>
              <a:t>Угроза 1: Инъекция через входные данные (Prompt Injection)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Агент, обрабатывающий SDD-спецификацию, отчёт инструмента или комментарий в коде, может получить текст-инструкцию, переопределяющую его конфигурацию. Агент выполняет действия, не предусмотренные легитимной конфигурацией.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1" i="0">
                <a:solidFill>
                  <a:srgbClr val="C0392B"/>
                </a:solidFill>
              </a:defRPr>
            </a:pPr>
            <a:r>
              <a:t>Угроза 2: Компрометация через результаты инструментов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Оркестратор принимает решения на основании текстовых результатов агентов. Если результат может быть сформирован внешним субъектом → оркестратор вводится в состояние, выгодное злоумышленнику.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1" i="0">
                <a:solidFill>
                  <a:srgbClr val="C0392B"/>
                </a:solidFill>
              </a:defRPr>
            </a:pPr>
            <a:r>
              <a:t>Угроза 3: Выполнение произвольного кода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Агент, запускающий тесты, выполняет код репозитория. Вредоносный код в тестовом файле выполняется с привилегиями процесса агента.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669280"/>
            <a:ext cx="10881360" cy="548640"/>
          </a:xfrm>
          <a:prstGeom prst="roundRect">
            <a:avLst/>
          </a:prstGeom>
          <a:solidFill>
            <a:srgbClr val="D6EEF5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2E86AB"/>
                </a:solidFill>
              </a:defRPr>
            </a:pPr>
            <a:r>
              <a:t>Автономность = мощность + поверхность атаки. Детальный анализ — в следующем модуле курса.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Сводная таблица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Компоненты мультиагентной системы и критерии их проектирования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" y="1188720"/>
          <a:ext cx="11887200" cy="4279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3657600"/>
                <a:gridCol w="4114800"/>
              </a:tblGrid>
              <a:tr h="47548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Компонент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Функция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Обязательные свойства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Последствие отсутствия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Цель агента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Критерий завершённости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Измерима, однозначна, не пересекается с другими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Непредсказуемая остановка / бесконечное выполнение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Инструменты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Возможные действия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Минимально необходимый набор, явно ограничен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Непредсказуемые действия, расширенная атака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Политика остановки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Условия прекращения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Все 5 типов условий явно заданы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Бесконечное выполнение, неконтролируемые затраты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Контекст агента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Информация о системе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Минимальный, версионированный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Конфликты между агентами, повторная работа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Интерфейс взаимод.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Формат передачи результата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Специфицирован, совместим с получателем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Потеря результата, ошибки агрегации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Оркестратор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Координация, агрегация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Явная иерархия, правила конфликтов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Произвольные решения при конфликтах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Общий контекст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Разделяемое состояние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Консистентен, доступен всем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Изолированная работа без согласованности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Иерархия приоритетов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Правило конфликтов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Задана до запуска, задокументирована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22222"/>
                          </a:solidFill>
                        </a:defRPr>
                      </a:pPr>
                      <a:r>
                        <a:t>Неразрешимые конфликты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Прогрессия освоения мультиагентных систем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От наблюдения к управляемой сложности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E86AB"/>
                </a:solidFill>
              </a:defRPr>
            </a:pPr>
            <a:r>
              <a:t>Стадия 1 — Первичное впечатление: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Агентная система успешно выполняет ограниченные задачи на небольшой кодовой базе. Скрытые недостатки ещё не проявляются.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1" i="0">
                <a:solidFill>
                  <a:srgbClr val="2E86AB"/>
                </a:solidFill>
              </a:defRPr>
            </a:pPr>
            <a:r>
              <a:t>Стадия 2 — Первые системные сбои: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• Агент исчерпал токеновый бюджет, не завершив задачу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• Два агента внесли конфликтующие изменения в один файл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• Агент тестов повысил метрику покрытия без содержательного качества</a:t>
            </a:r>
          </a:p>
          <a:p>
            <a:pPr algn="l">
              <a:spcBef>
                <a:spcPts val="2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• Агент продолжает итерировать без прогресса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300" b="1" i="0">
                <a:solidFill>
                  <a:srgbClr val="C0392B"/>
                </a:solidFill>
              </a:defRPr>
            </a:pPr>
            <a:r>
              <a:t>Каждый сбой — следствие конкретного архитектурного дефекта, а не случайный отказ.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400" b="1" i="0">
                <a:solidFill>
                  <a:srgbClr val="2E86AB"/>
                </a:solidFill>
              </a:defRPr>
            </a:pPr>
            <a:r>
              <a:t>Стадия 3 — Диагностическая интерпретация: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Бюджет без завершения → нет условия по ресурсам. Конфликт → нет правила в оркестраторе. Метрика без качества → размытая цель.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400" b="1" i="0">
                <a:solidFill>
                  <a:srgbClr val="2E86AB"/>
                </a:solidFill>
              </a:defRPr>
            </a:pPr>
            <a:r>
              <a:t>Стадия 4 — Методичное проектирование: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200" b="0" i="0">
                <a:solidFill>
                  <a:srgbClr val="222222"/>
                </a:solidFill>
              </a:defRPr>
            </a:pPr>
            <a:r>
              <a:t>Последовательная проработка каждого из 5 компонентов агента + 3 системных компонентов превращает изолированных агентов в предсказуемую систему.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669280"/>
            <a:ext cx="10881360" cy="548640"/>
          </a:xfrm>
          <a:prstGeom prst="roundRect">
            <a:avLst/>
          </a:prstGeom>
          <a:solidFill>
            <a:srgbClr val="D6EEF5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i="1">
                <a:solidFill>
                  <a:srgbClr val="2E86AB"/>
                </a:solidFill>
              </a:defRPr>
            </a:pPr>
            <a:r>
              <a:t>Разница между предсказуемой и хаотичной системой — в полноте проектирования компонентов, а не в выборе модели.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Резюме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</a:defRPr>
            </a:pPr>
            <a:r>
              <a:t>Ключевые положения лекции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114300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2E86AB"/>
                </a:solidFill>
              </a:defRPr>
            </a:pPr>
            <a:r>
              <a:t>1. Повышение качества — многомерная задача (7 измерений). Специализированный агент на измерение предсказуемее универсального.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100" b="0" i="0">
                <a:solidFill>
                  <a:srgbClr val="222222"/>
                </a:solidFill>
              </a:defRPr>
            </a:pPr>
            <a:r>
              <a:t>2. Мультиагентная система: 5 компонентов агента + 3 системных. Интерфейсы между компонентами равноценны самим компонентам.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100" b="0" i="0">
                <a:solidFill>
                  <a:srgbClr val="222222"/>
                </a:solidFill>
              </a:defRPr>
            </a:pPr>
            <a:r>
              <a:t>3. Три паттерна оркестрации (Pipeline, Fan-out/Fan-in, Iterative Loop) — различаются по предсказуемости, стоимости и риску. Выбор — архитектурное решение.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100" b="0" i="0">
                <a:solidFill>
                  <a:srgbClr val="222222"/>
                </a:solidFill>
              </a:defRPr>
            </a:pPr>
            <a:r>
              <a:t>4. Конфликты агентов неизбежны (объективное противоречие измерений). Разрешение — явная иерархия приоритетов, заданная до запуска.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100" b="0" i="0">
                <a:solidFill>
                  <a:srgbClr val="222222"/>
                </a:solidFill>
              </a:defRPr>
            </a:pPr>
            <a:r>
              <a:t>5. Политика остановки — обязательный компонент. Все 5 типов условий должны быть явно предусмотрены.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100" b="0" i="0">
                <a:solidFill>
                  <a:srgbClr val="222222"/>
                </a:solidFill>
              </a:defRPr>
            </a:pPr>
            <a:r>
              <a:t>6. Детерминированные инструменты — первый барьер качества (до и после агентов). Агент — только для задач, требующих языкового понимания.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100" b="0" i="0">
                <a:solidFill>
                  <a:srgbClr val="222222"/>
                </a:solidFill>
              </a:defRPr>
            </a:pPr>
            <a:r>
              <a:t>7. Ресурсная стоимость агентного пайплайна — реальная инженерная метрика. Соразмерность затрат результату должна быть обоснована.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1100" b="0" i="0">
                <a:solidFill>
                  <a:srgbClr val="222222"/>
                </a:solidFill>
              </a:defRPr>
            </a:pPr>
            <a:r>
              <a:t>8. Автономность агентной системы = функциональная мощность + расширенная поверхность атаки → тема следующего модуля.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